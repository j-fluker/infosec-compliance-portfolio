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7" r:id="rId4"/>
    <p:sldId id="262" r:id="rId5"/>
    <p:sldId id="266" r:id="rId6"/>
    <p:sldId id="258" r:id="rId7"/>
    <p:sldId id="263" r:id="rId8"/>
    <p:sldId id="269" r:id="rId9"/>
    <p:sldId id="259" r:id="rId10"/>
    <p:sldId id="264" r:id="rId11"/>
    <p:sldId id="267" r:id="rId12"/>
    <p:sldId id="265" r:id="rId13"/>
    <p:sldId id="26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A1815"/>
    <a:srgbClr val="400F0E"/>
    <a:srgbClr val="01BC49"/>
    <a:srgbClr val="FF120F"/>
    <a:srgbClr val="5F0820"/>
    <a:srgbClr val="DE2D42"/>
    <a:srgbClr val="8F8A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4T00:05:44.518"/>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1631 501,'-5'2,"0"-1,0 1,0-1,0 1,0 1,0-1,0 1,1 0,-1 0,1 0,0 0,0 1,-5 4,-3 3,-264 229,90-74,-54 46,117-106,-119 137,191-184,-56 84,49-63,-96 152,137-201,1-1,1 2,2 0,2 1,1 0,-7 35,9 14,4-1,7 109,0-41,-3-108,1-1,2 0,10 48,-13-88,8 39,1 0,1-1,3-1,1 0,29 56,16 7,63 150,-99-194,41 86,-53-122,1-1,0 0,2 0,30 31,-23-28,31 47,12 12,-36-55,1-1,1-2,49 30,-45-31,0-2,50 22,-58-31,0 2,-1 1,0 0,29 24,83 67,15 14,-94-65,-21-18,57 43,-53-55,0-1,1-2,52 17,-33-13,40 18,122 34,-104-35,-83-27,62 15,69 11,10-4,51 9,-138-30,-32-5,80 5,500-14,-316-5,-292 3,55 0,146 17,160 35,6-10,-238-30,-111-12,1 3,-1 3,0 1,0 2,50 17,4 13,381 127,-399-143,0-3,2-5,163 9,-115-21,-1-6,1-6,232-45,-232 22,303-76,-47 3,10 33,141-15,-435 68,-1 6,-72 11,0-2,47-12,-45 8,1 1,-1 1,51-1,112 9,-75 1,834-3,-935-1,0-2,0 0,0-1,-1-1,0-1,0-1,-1-1,1 0,-2-2,1-1,-1 0,-1-1,19-16,24-24,-3-2,65-77,-98 103,34-45,-2-2,-4-3,-3-2,49-110,-97 186,11-20,-1-2,-1 0,-1 0,8-35,-3-7,-3-1,3-82,-13-279,-4 206,1 203,-1 0,0 0,-2 1,0-1,-2 1,-14-38,-66-111,14 30,61 119,-1 1,-1 0,0 1,-1 0,-24-22,3 2,-41-41,-101-81,-262-163,326 245,-452-272,296 191,-7-8,63 45,101 60,-44-29,-379-202,415 240,-2 5,-1 5,-214-44,151 61,0 0,-287-34,230 36,160 15,-356-60,257 30,-329-26,182 19,119 13,102 17,-87-9,-41 4,-96-3,267 23,-600 5,323 28,271-24,-49 12,72-11,-86 5,98-13,10-1,0 0,0 2,-50 11,-35 9,79-18,0 2,0 2,-33 12,-15 11,-1-3,-150 31,158-50,0-4,-124-7,-61 4,239 0,0 2,0 0,1 1,-1 1,-33 16,-84 52,125-67,-61 44,52-36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4T00:05:46.965"/>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6657 0,'-1'2,"1"0,-1 0,0 0,0 1,0-2,0 1,0 0,0 0,0 0,-1 0,1-1,-1 1,1-1,-1 1,0-1,0 0,1 1,-4 0,-4 5,-46 33,-2-3,-109 54,83-49,-87 48,-893 486,28 60,331-191,241-158,374-228,44-27,-2-2,-90 43,85-48,2 2,1 3,-73 58,12-9,-152 119,57-39,165-127,-64 65,-9 8,-36 38,-8 7,17-33,-104 80,104-95,-68 45,195-137,-1-1,0-1,-1 0,1-1,-1 0,-1-1,1-1,-1-1,0 0,0-1,-23 2,-83-5,86-1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4T00:05:49.678"/>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1 0,'111'33,"167"57,175 53,106 33,1162 348,-813-250,355 169,-1127-382,-3 6,161 109,226 196,-409-290,68 56,96 68,-254-193,0-1,1-1,42 14,-37-16,-1 2,34 18,186 104,-133-76,121 83,-198-115,195 145,82 80,-271-214,-2 2,37 45,-7-7,-35-43,67 48,18 16,-104-83,0-2,1 0,0-1,30 13,-23-12,-1 1,21 16,28 20,-55-39,-1 1,1 0,-2 1,0 1,0 0,-1 1,-1 0,18 26,-13-14,-2-4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4T00:06:03.275"/>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1 3643,'0'-3542,"0"3533,0 3,-1 0,1 0,0 0,1 0,0 0,0 0,0 0,0 0,1 0,0 0,1 1,2-7,4 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00:06:05.127"/>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791 0 0,'-790'665'0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4T00:06:12.800"/>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1 1,'1'10,"1"0,1 0,0 0,1 0,0 0,0-1,1 1,0-1,0 0,14 15,-2 1,90 175,-49-86,26 70,-18-36,-56-129,1-1,1-1,0 0,1 0,25 22,-15-17</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759EE-0D49-D6E0-818B-A11E6B87D7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D956413-92FC-954E-547C-BFFFEDDC80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EF545C-96BC-A430-DCBD-63EC97605264}"/>
              </a:ext>
            </a:extLst>
          </p:cNvPr>
          <p:cNvSpPr>
            <a:spLocks noGrp="1"/>
          </p:cNvSpPr>
          <p:nvPr>
            <p:ph type="dt" sz="half" idx="10"/>
          </p:nvPr>
        </p:nvSpPr>
        <p:spPr/>
        <p:txBody>
          <a:bodyPr/>
          <a:lstStyle/>
          <a:p>
            <a:fld id="{39FDFCB8-5C9A-4A95-80A1-78C107EEC1F5}" type="datetimeFigureOut">
              <a:rPr lang="en-US" smtClean="0"/>
              <a:t>6/4/2026</a:t>
            </a:fld>
            <a:endParaRPr lang="en-US" dirty="0"/>
          </a:p>
        </p:txBody>
      </p:sp>
      <p:sp>
        <p:nvSpPr>
          <p:cNvPr id="5" name="Footer Placeholder 4">
            <a:extLst>
              <a:ext uri="{FF2B5EF4-FFF2-40B4-BE49-F238E27FC236}">
                <a16:creationId xmlns:a16="http://schemas.microsoft.com/office/drawing/2014/main" id="{3738D15C-77BC-8EC9-88CD-7083E6E1495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35CFCD0-DDF1-667B-4903-C4F6C5CA3711}"/>
              </a:ext>
            </a:extLst>
          </p:cNvPr>
          <p:cNvSpPr>
            <a:spLocks noGrp="1"/>
          </p:cNvSpPr>
          <p:nvPr>
            <p:ph type="sldNum" sz="quarter" idx="12"/>
          </p:nvPr>
        </p:nvSpPr>
        <p:spPr/>
        <p:txBody>
          <a:bodyPr/>
          <a:lstStyle/>
          <a:p>
            <a:fld id="{3EC48789-FB9E-4E21-AA11-7DEC6D4E0CAD}" type="slidenum">
              <a:rPr lang="en-US" smtClean="0"/>
              <a:t>‹#›</a:t>
            </a:fld>
            <a:endParaRPr lang="en-US" dirty="0"/>
          </a:p>
        </p:txBody>
      </p:sp>
    </p:spTree>
    <p:extLst>
      <p:ext uri="{BB962C8B-B14F-4D97-AF65-F5344CB8AC3E}">
        <p14:creationId xmlns:p14="http://schemas.microsoft.com/office/powerpoint/2010/main" val="1179352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B35A6-DF8A-A205-661C-ADEB7B0000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137630-DBAB-EC59-5811-D5B494161B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F87916-07D0-70F3-306B-C339387C099C}"/>
              </a:ext>
            </a:extLst>
          </p:cNvPr>
          <p:cNvSpPr>
            <a:spLocks noGrp="1"/>
          </p:cNvSpPr>
          <p:nvPr>
            <p:ph type="dt" sz="half" idx="10"/>
          </p:nvPr>
        </p:nvSpPr>
        <p:spPr/>
        <p:txBody>
          <a:bodyPr/>
          <a:lstStyle/>
          <a:p>
            <a:fld id="{39FDFCB8-5C9A-4A95-80A1-78C107EEC1F5}" type="datetimeFigureOut">
              <a:rPr lang="en-US" smtClean="0"/>
              <a:t>6/4/2026</a:t>
            </a:fld>
            <a:endParaRPr lang="en-US" dirty="0"/>
          </a:p>
        </p:txBody>
      </p:sp>
      <p:sp>
        <p:nvSpPr>
          <p:cNvPr id="5" name="Footer Placeholder 4">
            <a:extLst>
              <a:ext uri="{FF2B5EF4-FFF2-40B4-BE49-F238E27FC236}">
                <a16:creationId xmlns:a16="http://schemas.microsoft.com/office/drawing/2014/main" id="{F35F152F-8D07-51C2-B74C-36E5315A3B7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88CF91-509C-AEF0-1BCB-9EAAEDDA9E50}"/>
              </a:ext>
            </a:extLst>
          </p:cNvPr>
          <p:cNvSpPr>
            <a:spLocks noGrp="1"/>
          </p:cNvSpPr>
          <p:nvPr>
            <p:ph type="sldNum" sz="quarter" idx="12"/>
          </p:nvPr>
        </p:nvSpPr>
        <p:spPr/>
        <p:txBody>
          <a:bodyPr/>
          <a:lstStyle/>
          <a:p>
            <a:fld id="{3EC48789-FB9E-4E21-AA11-7DEC6D4E0CAD}" type="slidenum">
              <a:rPr lang="en-US" smtClean="0"/>
              <a:t>‹#›</a:t>
            </a:fld>
            <a:endParaRPr lang="en-US" dirty="0"/>
          </a:p>
        </p:txBody>
      </p:sp>
    </p:spTree>
    <p:extLst>
      <p:ext uri="{BB962C8B-B14F-4D97-AF65-F5344CB8AC3E}">
        <p14:creationId xmlns:p14="http://schemas.microsoft.com/office/powerpoint/2010/main" val="12146419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8F9A9-4F44-09A4-8DCA-782C5909A5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F2D59B2-6FA1-BB1D-8515-C8F7F852D2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0574E1-82A4-FA75-6CB1-44FC304CD57F}"/>
              </a:ext>
            </a:extLst>
          </p:cNvPr>
          <p:cNvSpPr>
            <a:spLocks noGrp="1"/>
          </p:cNvSpPr>
          <p:nvPr>
            <p:ph type="dt" sz="half" idx="10"/>
          </p:nvPr>
        </p:nvSpPr>
        <p:spPr/>
        <p:txBody>
          <a:bodyPr/>
          <a:lstStyle/>
          <a:p>
            <a:fld id="{39FDFCB8-5C9A-4A95-80A1-78C107EEC1F5}" type="datetimeFigureOut">
              <a:rPr lang="en-US" smtClean="0"/>
              <a:t>6/4/2026</a:t>
            </a:fld>
            <a:endParaRPr lang="en-US" dirty="0"/>
          </a:p>
        </p:txBody>
      </p:sp>
      <p:sp>
        <p:nvSpPr>
          <p:cNvPr id="5" name="Footer Placeholder 4">
            <a:extLst>
              <a:ext uri="{FF2B5EF4-FFF2-40B4-BE49-F238E27FC236}">
                <a16:creationId xmlns:a16="http://schemas.microsoft.com/office/drawing/2014/main" id="{9F3CB518-14BF-1EF2-2663-AAF5D06364A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473F760-BC29-2CB4-4D54-DA1592923817}"/>
              </a:ext>
            </a:extLst>
          </p:cNvPr>
          <p:cNvSpPr>
            <a:spLocks noGrp="1"/>
          </p:cNvSpPr>
          <p:nvPr>
            <p:ph type="sldNum" sz="quarter" idx="12"/>
          </p:nvPr>
        </p:nvSpPr>
        <p:spPr/>
        <p:txBody>
          <a:bodyPr/>
          <a:lstStyle/>
          <a:p>
            <a:fld id="{3EC48789-FB9E-4E21-AA11-7DEC6D4E0CAD}" type="slidenum">
              <a:rPr lang="en-US" smtClean="0"/>
              <a:t>‹#›</a:t>
            </a:fld>
            <a:endParaRPr lang="en-US" dirty="0"/>
          </a:p>
        </p:txBody>
      </p:sp>
    </p:spTree>
    <p:extLst>
      <p:ext uri="{BB962C8B-B14F-4D97-AF65-F5344CB8AC3E}">
        <p14:creationId xmlns:p14="http://schemas.microsoft.com/office/powerpoint/2010/main" val="3896113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C6866-ED29-CDDF-302F-12EC802F21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23F670-2781-F53E-8273-DA031285F7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36A7BE-AD02-F719-C728-E5C5883A69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2277D6-473E-A9A1-61B4-AD054D528D96}"/>
              </a:ext>
            </a:extLst>
          </p:cNvPr>
          <p:cNvSpPr>
            <a:spLocks noGrp="1"/>
          </p:cNvSpPr>
          <p:nvPr>
            <p:ph type="dt" sz="half" idx="10"/>
          </p:nvPr>
        </p:nvSpPr>
        <p:spPr/>
        <p:txBody>
          <a:bodyPr/>
          <a:lstStyle/>
          <a:p>
            <a:fld id="{39FDFCB8-5C9A-4A95-80A1-78C107EEC1F5}" type="datetimeFigureOut">
              <a:rPr lang="en-US" smtClean="0"/>
              <a:t>6/4/2026</a:t>
            </a:fld>
            <a:endParaRPr lang="en-US" dirty="0"/>
          </a:p>
        </p:txBody>
      </p:sp>
      <p:sp>
        <p:nvSpPr>
          <p:cNvPr id="6" name="Footer Placeholder 5">
            <a:extLst>
              <a:ext uri="{FF2B5EF4-FFF2-40B4-BE49-F238E27FC236}">
                <a16:creationId xmlns:a16="http://schemas.microsoft.com/office/drawing/2014/main" id="{5DCEEB8D-E395-BAB6-3ECC-D03E78DF1AF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73958C7-B631-037D-5397-F3D1B77D90DC}"/>
              </a:ext>
            </a:extLst>
          </p:cNvPr>
          <p:cNvSpPr>
            <a:spLocks noGrp="1"/>
          </p:cNvSpPr>
          <p:nvPr>
            <p:ph type="sldNum" sz="quarter" idx="12"/>
          </p:nvPr>
        </p:nvSpPr>
        <p:spPr/>
        <p:txBody>
          <a:bodyPr/>
          <a:lstStyle/>
          <a:p>
            <a:fld id="{3EC48789-FB9E-4E21-AA11-7DEC6D4E0CAD}" type="slidenum">
              <a:rPr lang="en-US" smtClean="0"/>
              <a:t>‹#›</a:t>
            </a:fld>
            <a:endParaRPr lang="en-US" dirty="0"/>
          </a:p>
        </p:txBody>
      </p:sp>
    </p:spTree>
    <p:extLst>
      <p:ext uri="{BB962C8B-B14F-4D97-AF65-F5344CB8AC3E}">
        <p14:creationId xmlns:p14="http://schemas.microsoft.com/office/powerpoint/2010/main" val="1157361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B8B5F-C391-6909-BDAE-E4D75FAC49B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EEAAEA-D5E1-915F-DAE5-83246AE3E2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B37A56-739E-25DF-F88A-0F299EB18A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A68AC8-46EE-5DC2-A9AD-1FB856A257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B8302B-6F4A-23ED-EC41-0FF4CE5FE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41769F-5694-CC16-6459-64E23AC8EC01}"/>
              </a:ext>
            </a:extLst>
          </p:cNvPr>
          <p:cNvSpPr>
            <a:spLocks noGrp="1"/>
          </p:cNvSpPr>
          <p:nvPr>
            <p:ph type="dt" sz="half" idx="10"/>
          </p:nvPr>
        </p:nvSpPr>
        <p:spPr/>
        <p:txBody>
          <a:bodyPr/>
          <a:lstStyle/>
          <a:p>
            <a:fld id="{39FDFCB8-5C9A-4A95-80A1-78C107EEC1F5}" type="datetimeFigureOut">
              <a:rPr lang="en-US" smtClean="0"/>
              <a:t>6/4/2026</a:t>
            </a:fld>
            <a:endParaRPr lang="en-US" dirty="0"/>
          </a:p>
        </p:txBody>
      </p:sp>
      <p:sp>
        <p:nvSpPr>
          <p:cNvPr id="8" name="Footer Placeholder 7">
            <a:extLst>
              <a:ext uri="{FF2B5EF4-FFF2-40B4-BE49-F238E27FC236}">
                <a16:creationId xmlns:a16="http://schemas.microsoft.com/office/drawing/2014/main" id="{56FCB1E2-2D43-429F-5527-ECAFF4451CA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9AF82D1-628B-DA04-75B1-A5BB5DC71B71}"/>
              </a:ext>
            </a:extLst>
          </p:cNvPr>
          <p:cNvSpPr>
            <a:spLocks noGrp="1"/>
          </p:cNvSpPr>
          <p:nvPr>
            <p:ph type="sldNum" sz="quarter" idx="12"/>
          </p:nvPr>
        </p:nvSpPr>
        <p:spPr/>
        <p:txBody>
          <a:bodyPr/>
          <a:lstStyle/>
          <a:p>
            <a:fld id="{3EC48789-FB9E-4E21-AA11-7DEC6D4E0CAD}" type="slidenum">
              <a:rPr lang="en-US" smtClean="0"/>
              <a:t>‹#›</a:t>
            </a:fld>
            <a:endParaRPr lang="en-US" dirty="0"/>
          </a:p>
        </p:txBody>
      </p:sp>
    </p:spTree>
    <p:extLst>
      <p:ext uri="{BB962C8B-B14F-4D97-AF65-F5344CB8AC3E}">
        <p14:creationId xmlns:p14="http://schemas.microsoft.com/office/powerpoint/2010/main" val="3991472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A2D33-5893-39FF-A6CF-720E51263F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F2D098C-7450-2116-34E2-E850B17FF9B2}"/>
              </a:ext>
            </a:extLst>
          </p:cNvPr>
          <p:cNvSpPr>
            <a:spLocks noGrp="1"/>
          </p:cNvSpPr>
          <p:nvPr>
            <p:ph type="dt" sz="half" idx="10"/>
          </p:nvPr>
        </p:nvSpPr>
        <p:spPr/>
        <p:txBody>
          <a:bodyPr/>
          <a:lstStyle/>
          <a:p>
            <a:fld id="{39FDFCB8-5C9A-4A95-80A1-78C107EEC1F5}" type="datetimeFigureOut">
              <a:rPr lang="en-US" smtClean="0"/>
              <a:t>6/4/2026</a:t>
            </a:fld>
            <a:endParaRPr lang="en-US" dirty="0"/>
          </a:p>
        </p:txBody>
      </p:sp>
      <p:sp>
        <p:nvSpPr>
          <p:cNvPr id="4" name="Footer Placeholder 3">
            <a:extLst>
              <a:ext uri="{FF2B5EF4-FFF2-40B4-BE49-F238E27FC236}">
                <a16:creationId xmlns:a16="http://schemas.microsoft.com/office/drawing/2014/main" id="{BBA73B56-B5E9-F2DA-40A5-9F6ED138BB3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C408910-1C76-F6BC-2070-644706AB069E}"/>
              </a:ext>
            </a:extLst>
          </p:cNvPr>
          <p:cNvSpPr>
            <a:spLocks noGrp="1"/>
          </p:cNvSpPr>
          <p:nvPr>
            <p:ph type="sldNum" sz="quarter" idx="12"/>
          </p:nvPr>
        </p:nvSpPr>
        <p:spPr/>
        <p:txBody>
          <a:bodyPr/>
          <a:lstStyle/>
          <a:p>
            <a:fld id="{3EC48789-FB9E-4E21-AA11-7DEC6D4E0CAD}" type="slidenum">
              <a:rPr lang="en-US" smtClean="0"/>
              <a:t>‹#›</a:t>
            </a:fld>
            <a:endParaRPr lang="en-US" dirty="0"/>
          </a:p>
        </p:txBody>
      </p:sp>
    </p:spTree>
    <p:extLst>
      <p:ext uri="{BB962C8B-B14F-4D97-AF65-F5344CB8AC3E}">
        <p14:creationId xmlns:p14="http://schemas.microsoft.com/office/powerpoint/2010/main" val="2190267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272BBF-AD40-D870-ED2C-5A50653EAB5D}"/>
              </a:ext>
            </a:extLst>
          </p:cNvPr>
          <p:cNvSpPr>
            <a:spLocks noGrp="1"/>
          </p:cNvSpPr>
          <p:nvPr>
            <p:ph type="dt" sz="half" idx="10"/>
          </p:nvPr>
        </p:nvSpPr>
        <p:spPr/>
        <p:txBody>
          <a:bodyPr/>
          <a:lstStyle/>
          <a:p>
            <a:fld id="{39FDFCB8-5C9A-4A95-80A1-78C107EEC1F5}" type="datetimeFigureOut">
              <a:rPr lang="en-US" smtClean="0"/>
              <a:t>6/4/2026</a:t>
            </a:fld>
            <a:endParaRPr lang="en-US" dirty="0"/>
          </a:p>
        </p:txBody>
      </p:sp>
      <p:sp>
        <p:nvSpPr>
          <p:cNvPr id="3" name="Footer Placeholder 2">
            <a:extLst>
              <a:ext uri="{FF2B5EF4-FFF2-40B4-BE49-F238E27FC236}">
                <a16:creationId xmlns:a16="http://schemas.microsoft.com/office/drawing/2014/main" id="{E1C95733-AFA7-F95E-CB31-7C688E315F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04B21FC-952C-3886-4B60-9CE1F58803DB}"/>
              </a:ext>
            </a:extLst>
          </p:cNvPr>
          <p:cNvSpPr>
            <a:spLocks noGrp="1"/>
          </p:cNvSpPr>
          <p:nvPr>
            <p:ph type="sldNum" sz="quarter" idx="12"/>
          </p:nvPr>
        </p:nvSpPr>
        <p:spPr/>
        <p:txBody>
          <a:bodyPr/>
          <a:lstStyle/>
          <a:p>
            <a:fld id="{3EC48789-FB9E-4E21-AA11-7DEC6D4E0CAD}" type="slidenum">
              <a:rPr lang="en-US" smtClean="0"/>
              <a:t>‹#›</a:t>
            </a:fld>
            <a:endParaRPr lang="en-US" dirty="0"/>
          </a:p>
        </p:txBody>
      </p:sp>
    </p:spTree>
    <p:extLst>
      <p:ext uri="{BB962C8B-B14F-4D97-AF65-F5344CB8AC3E}">
        <p14:creationId xmlns:p14="http://schemas.microsoft.com/office/powerpoint/2010/main" val="3046470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7AEF7-B770-C32F-538F-C9D6C2AED8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4507D1-2B6A-8B74-8B9B-AD0F192389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336954-5230-91E2-DC68-A4EE63759E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929CB3-737F-F5FC-A733-ED78B31037E0}"/>
              </a:ext>
            </a:extLst>
          </p:cNvPr>
          <p:cNvSpPr>
            <a:spLocks noGrp="1"/>
          </p:cNvSpPr>
          <p:nvPr>
            <p:ph type="dt" sz="half" idx="10"/>
          </p:nvPr>
        </p:nvSpPr>
        <p:spPr/>
        <p:txBody>
          <a:bodyPr/>
          <a:lstStyle/>
          <a:p>
            <a:fld id="{39FDFCB8-5C9A-4A95-80A1-78C107EEC1F5}" type="datetimeFigureOut">
              <a:rPr lang="en-US" smtClean="0"/>
              <a:t>6/4/2026</a:t>
            </a:fld>
            <a:endParaRPr lang="en-US" dirty="0"/>
          </a:p>
        </p:txBody>
      </p:sp>
      <p:sp>
        <p:nvSpPr>
          <p:cNvPr id="6" name="Footer Placeholder 5">
            <a:extLst>
              <a:ext uri="{FF2B5EF4-FFF2-40B4-BE49-F238E27FC236}">
                <a16:creationId xmlns:a16="http://schemas.microsoft.com/office/drawing/2014/main" id="{E5A7CCEA-BC5C-CE44-5FEF-E3268413AE7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785D85E-4F80-5721-1B7C-575324D7F6CD}"/>
              </a:ext>
            </a:extLst>
          </p:cNvPr>
          <p:cNvSpPr>
            <a:spLocks noGrp="1"/>
          </p:cNvSpPr>
          <p:nvPr>
            <p:ph type="sldNum" sz="quarter" idx="12"/>
          </p:nvPr>
        </p:nvSpPr>
        <p:spPr/>
        <p:txBody>
          <a:bodyPr/>
          <a:lstStyle/>
          <a:p>
            <a:fld id="{3EC48789-FB9E-4E21-AA11-7DEC6D4E0CAD}" type="slidenum">
              <a:rPr lang="en-US" smtClean="0"/>
              <a:t>‹#›</a:t>
            </a:fld>
            <a:endParaRPr lang="en-US" dirty="0"/>
          </a:p>
        </p:txBody>
      </p:sp>
    </p:spTree>
    <p:extLst>
      <p:ext uri="{BB962C8B-B14F-4D97-AF65-F5344CB8AC3E}">
        <p14:creationId xmlns:p14="http://schemas.microsoft.com/office/powerpoint/2010/main" val="3181794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8100D-31E0-09CC-F3F2-0213FAEE16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2CC9124-7AB0-149E-3697-221A886265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0EB69A7-F644-DAAC-0BD0-340EB1AD40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171C61-33A8-B4B4-968F-6DE19ACDE301}"/>
              </a:ext>
            </a:extLst>
          </p:cNvPr>
          <p:cNvSpPr>
            <a:spLocks noGrp="1"/>
          </p:cNvSpPr>
          <p:nvPr>
            <p:ph type="dt" sz="half" idx="10"/>
          </p:nvPr>
        </p:nvSpPr>
        <p:spPr/>
        <p:txBody>
          <a:bodyPr/>
          <a:lstStyle/>
          <a:p>
            <a:fld id="{39FDFCB8-5C9A-4A95-80A1-78C107EEC1F5}" type="datetimeFigureOut">
              <a:rPr lang="en-US" smtClean="0"/>
              <a:t>6/4/2026</a:t>
            </a:fld>
            <a:endParaRPr lang="en-US" dirty="0"/>
          </a:p>
        </p:txBody>
      </p:sp>
      <p:sp>
        <p:nvSpPr>
          <p:cNvPr id="6" name="Footer Placeholder 5">
            <a:extLst>
              <a:ext uri="{FF2B5EF4-FFF2-40B4-BE49-F238E27FC236}">
                <a16:creationId xmlns:a16="http://schemas.microsoft.com/office/drawing/2014/main" id="{31DF8454-9D50-B007-F77E-E27CD8661E7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227BCD5-EB55-952E-0FE1-03E7DF511FFC}"/>
              </a:ext>
            </a:extLst>
          </p:cNvPr>
          <p:cNvSpPr>
            <a:spLocks noGrp="1"/>
          </p:cNvSpPr>
          <p:nvPr>
            <p:ph type="sldNum" sz="quarter" idx="12"/>
          </p:nvPr>
        </p:nvSpPr>
        <p:spPr/>
        <p:txBody>
          <a:bodyPr/>
          <a:lstStyle/>
          <a:p>
            <a:fld id="{3EC48789-FB9E-4E21-AA11-7DEC6D4E0CAD}" type="slidenum">
              <a:rPr lang="en-US" smtClean="0"/>
              <a:t>‹#›</a:t>
            </a:fld>
            <a:endParaRPr lang="en-US" dirty="0"/>
          </a:p>
        </p:txBody>
      </p:sp>
    </p:spTree>
    <p:extLst>
      <p:ext uri="{BB962C8B-B14F-4D97-AF65-F5344CB8AC3E}">
        <p14:creationId xmlns:p14="http://schemas.microsoft.com/office/powerpoint/2010/main" val="3192269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5788E-D9FF-373D-42CC-11C47475A1B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CA96553-433D-0D86-ABE4-534C444631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4323F6-DC6D-F294-7389-EBCBE01C521E}"/>
              </a:ext>
            </a:extLst>
          </p:cNvPr>
          <p:cNvSpPr>
            <a:spLocks noGrp="1"/>
          </p:cNvSpPr>
          <p:nvPr>
            <p:ph type="dt" sz="half" idx="10"/>
          </p:nvPr>
        </p:nvSpPr>
        <p:spPr/>
        <p:txBody>
          <a:bodyPr/>
          <a:lstStyle/>
          <a:p>
            <a:fld id="{39FDFCB8-5C9A-4A95-80A1-78C107EEC1F5}" type="datetimeFigureOut">
              <a:rPr lang="en-US" smtClean="0"/>
              <a:t>6/4/2026</a:t>
            </a:fld>
            <a:endParaRPr lang="en-US" dirty="0"/>
          </a:p>
        </p:txBody>
      </p:sp>
      <p:sp>
        <p:nvSpPr>
          <p:cNvPr id="5" name="Footer Placeholder 4">
            <a:extLst>
              <a:ext uri="{FF2B5EF4-FFF2-40B4-BE49-F238E27FC236}">
                <a16:creationId xmlns:a16="http://schemas.microsoft.com/office/drawing/2014/main" id="{568E232B-9724-3EF6-7424-AA9F0294CDE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DD7F01D-86CA-4BF7-45FE-05DF37221B39}"/>
              </a:ext>
            </a:extLst>
          </p:cNvPr>
          <p:cNvSpPr>
            <a:spLocks noGrp="1"/>
          </p:cNvSpPr>
          <p:nvPr>
            <p:ph type="sldNum" sz="quarter" idx="12"/>
          </p:nvPr>
        </p:nvSpPr>
        <p:spPr/>
        <p:txBody>
          <a:bodyPr/>
          <a:lstStyle/>
          <a:p>
            <a:fld id="{3EC48789-FB9E-4E21-AA11-7DEC6D4E0CAD}" type="slidenum">
              <a:rPr lang="en-US" smtClean="0"/>
              <a:t>‹#›</a:t>
            </a:fld>
            <a:endParaRPr lang="en-US" dirty="0"/>
          </a:p>
        </p:txBody>
      </p:sp>
    </p:spTree>
    <p:extLst>
      <p:ext uri="{BB962C8B-B14F-4D97-AF65-F5344CB8AC3E}">
        <p14:creationId xmlns:p14="http://schemas.microsoft.com/office/powerpoint/2010/main" val="1122207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4AA5A6-85ED-D319-E6C3-8D26E9D62F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7560D2-312F-BAD4-B699-CB4B9329E7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8C5D2B-0462-73E3-FE65-51DE2D5183B3}"/>
              </a:ext>
            </a:extLst>
          </p:cNvPr>
          <p:cNvSpPr>
            <a:spLocks noGrp="1"/>
          </p:cNvSpPr>
          <p:nvPr>
            <p:ph type="dt" sz="half" idx="10"/>
          </p:nvPr>
        </p:nvSpPr>
        <p:spPr/>
        <p:txBody>
          <a:bodyPr/>
          <a:lstStyle/>
          <a:p>
            <a:fld id="{39FDFCB8-5C9A-4A95-80A1-78C107EEC1F5}" type="datetimeFigureOut">
              <a:rPr lang="en-US" smtClean="0"/>
              <a:t>6/4/2026</a:t>
            </a:fld>
            <a:endParaRPr lang="en-US" dirty="0"/>
          </a:p>
        </p:txBody>
      </p:sp>
      <p:sp>
        <p:nvSpPr>
          <p:cNvPr id="5" name="Footer Placeholder 4">
            <a:extLst>
              <a:ext uri="{FF2B5EF4-FFF2-40B4-BE49-F238E27FC236}">
                <a16:creationId xmlns:a16="http://schemas.microsoft.com/office/drawing/2014/main" id="{1A52575F-3A0B-A61F-472C-449D73975ED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8CA6805-D725-1049-9317-4950208CA1ED}"/>
              </a:ext>
            </a:extLst>
          </p:cNvPr>
          <p:cNvSpPr>
            <a:spLocks noGrp="1"/>
          </p:cNvSpPr>
          <p:nvPr>
            <p:ph type="sldNum" sz="quarter" idx="12"/>
          </p:nvPr>
        </p:nvSpPr>
        <p:spPr/>
        <p:txBody>
          <a:bodyPr/>
          <a:lstStyle/>
          <a:p>
            <a:fld id="{3EC48789-FB9E-4E21-AA11-7DEC6D4E0CAD}" type="slidenum">
              <a:rPr lang="en-US" smtClean="0"/>
              <a:t>‹#›</a:t>
            </a:fld>
            <a:endParaRPr lang="en-US" dirty="0"/>
          </a:p>
        </p:txBody>
      </p:sp>
    </p:spTree>
    <p:extLst>
      <p:ext uri="{BB962C8B-B14F-4D97-AF65-F5344CB8AC3E}">
        <p14:creationId xmlns:p14="http://schemas.microsoft.com/office/powerpoint/2010/main" val="937873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44B9C8-F57C-E4F1-DA90-DCE123D8C4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D780DBE-90A7-18E0-9525-B832D4D096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411C1F-F63D-C453-1FB2-62B39E6A65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FDFCB8-5C9A-4A95-80A1-78C107EEC1F5}" type="datetimeFigureOut">
              <a:rPr lang="en-US" smtClean="0"/>
              <a:t>6/4/2026</a:t>
            </a:fld>
            <a:endParaRPr lang="en-US" dirty="0"/>
          </a:p>
        </p:txBody>
      </p:sp>
      <p:sp>
        <p:nvSpPr>
          <p:cNvPr id="5" name="Footer Placeholder 4">
            <a:extLst>
              <a:ext uri="{FF2B5EF4-FFF2-40B4-BE49-F238E27FC236}">
                <a16:creationId xmlns:a16="http://schemas.microsoft.com/office/drawing/2014/main" id="{8763DC13-0477-17AB-5AB8-83D318F5EE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D150B513-F160-6649-6C55-7D9E65D7D2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C48789-FB9E-4E21-AA11-7DEC6D4E0CAD}" type="slidenum">
              <a:rPr lang="en-US" smtClean="0"/>
              <a:t>‹#›</a:t>
            </a:fld>
            <a:endParaRPr lang="en-US" dirty="0"/>
          </a:p>
        </p:txBody>
      </p:sp>
    </p:spTree>
    <p:extLst>
      <p:ext uri="{BB962C8B-B14F-4D97-AF65-F5344CB8AC3E}">
        <p14:creationId xmlns:p14="http://schemas.microsoft.com/office/powerpoint/2010/main" val="13158677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customXml" Target="../ink/ink6.xml"/><Relationship Id="rId2" Type="http://schemas.openxmlformats.org/officeDocument/2006/relationships/customXml" Target="../ink/ink1.xml"/><Relationship Id="rId1" Type="http://schemas.openxmlformats.org/officeDocument/2006/relationships/slideLayout" Target="../slideLayouts/slideLayout4.xml"/><Relationship Id="rId6" Type="http://schemas.openxmlformats.org/officeDocument/2006/relationships/customXml" Target="../ink/ink3.xm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25E9CAD-2A77-1BF7-A398-4AAB51FA62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F4EBBB02-A995-84BD-6CC0-719F198AA3C8}"/>
              </a:ext>
            </a:extLst>
          </p:cNvPr>
          <p:cNvSpPr/>
          <p:nvPr/>
        </p:nvSpPr>
        <p:spPr>
          <a:xfrm>
            <a:off x="4751770" y="149185"/>
            <a:ext cx="2178802" cy="1815882"/>
          </a:xfrm>
          <a:prstGeom prst="rect">
            <a:avLst/>
          </a:prstGeom>
          <a:noFill/>
          <a:ln>
            <a:noFill/>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txBody>
          <a:bodyPr wrap="none" lIns="91440" tIns="45720" rIns="91440" bIns="45720">
            <a:spAutoFit/>
          </a:bodyPr>
          <a:lstStyle/>
          <a:p>
            <a:pPr algn="ctr"/>
            <a:r>
              <a:rPr lang="en-US" sz="2800" b="1" dirty="0">
                <a:ln w="9525">
                  <a:solidFill>
                    <a:schemeClr val="bg1"/>
                  </a:solidFill>
                  <a:prstDash val="solid"/>
                </a:ln>
                <a:solidFill>
                  <a:schemeClr val="bg1"/>
                </a:solidFill>
                <a:effectLst>
                  <a:outerShdw blurRad="12700" dist="38100" dir="2700000" algn="tl" rotWithShape="0">
                    <a:schemeClr val="bg1">
                      <a:lumMod val="50000"/>
                    </a:schemeClr>
                  </a:outerShdw>
                </a:effectLst>
              </a:rPr>
              <a:t>Super Fun</a:t>
            </a:r>
          </a:p>
          <a:p>
            <a:pPr algn="ctr"/>
            <a:r>
              <a:rPr lang="en-US" sz="2800" b="1" cap="none" spc="0" dirty="0">
                <a:ln w="9525">
                  <a:solidFill>
                    <a:schemeClr val="bg1"/>
                  </a:solidFill>
                  <a:prstDash val="solid"/>
                </a:ln>
                <a:solidFill>
                  <a:schemeClr val="bg1"/>
                </a:solidFill>
                <a:effectLst>
                  <a:outerShdw blurRad="12700" dist="38100" dir="2700000" algn="tl" rotWithShape="0">
                    <a:schemeClr val="bg1">
                      <a:lumMod val="50000"/>
                    </a:schemeClr>
                  </a:outerShdw>
                </a:effectLst>
              </a:rPr>
              <a:t>Compliance</a:t>
            </a:r>
          </a:p>
          <a:p>
            <a:pPr algn="ctr"/>
            <a:r>
              <a:rPr lang="en-US" sz="2800" b="1" dirty="0">
                <a:ln w="9525">
                  <a:solidFill>
                    <a:schemeClr val="bg1"/>
                  </a:solidFill>
                  <a:prstDash val="solid"/>
                </a:ln>
                <a:solidFill>
                  <a:schemeClr val="bg1"/>
                </a:solidFill>
                <a:effectLst>
                  <a:outerShdw blurRad="12700" dist="38100" dir="2700000" algn="tl" rotWithShape="0">
                    <a:schemeClr val="bg1">
                      <a:lumMod val="50000"/>
                    </a:schemeClr>
                  </a:outerShdw>
                </a:effectLst>
              </a:rPr>
              <a:t>Awareness</a:t>
            </a:r>
          </a:p>
          <a:p>
            <a:pPr algn="ctr"/>
            <a:r>
              <a:rPr lang="en-US" sz="2800" b="1" cap="none" spc="0" dirty="0">
                <a:ln w="9525">
                  <a:solidFill>
                    <a:schemeClr val="bg1"/>
                  </a:solidFill>
                  <a:prstDash val="solid"/>
                </a:ln>
                <a:solidFill>
                  <a:schemeClr val="bg1"/>
                </a:solidFill>
                <a:effectLst>
                  <a:outerShdw blurRad="12700" dist="38100" dir="2700000" algn="tl" rotWithShape="0">
                    <a:schemeClr val="bg1">
                      <a:lumMod val="50000"/>
                    </a:schemeClr>
                  </a:outerShdw>
                </a:effectLst>
              </a:rPr>
              <a:t>Training!</a:t>
            </a:r>
          </a:p>
        </p:txBody>
      </p:sp>
    </p:spTree>
    <p:extLst>
      <p:ext uri="{BB962C8B-B14F-4D97-AF65-F5344CB8AC3E}">
        <p14:creationId xmlns:p14="http://schemas.microsoft.com/office/powerpoint/2010/main" val="140579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B327B-2527-C32C-A586-71606A35D1EF}"/>
              </a:ext>
            </a:extLst>
          </p:cNvPr>
          <p:cNvSpPr>
            <a:spLocks noGrp="1"/>
          </p:cNvSpPr>
          <p:nvPr>
            <p:ph type="title"/>
          </p:nvPr>
        </p:nvSpPr>
        <p:spPr>
          <a:xfrm>
            <a:off x="838200" y="166551"/>
            <a:ext cx="10515600" cy="449705"/>
          </a:xfrm>
        </p:spPr>
        <p:txBody>
          <a:bodyPr>
            <a:normAutofit fontScale="90000"/>
          </a:bodyPr>
          <a:lstStyle/>
          <a:p>
            <a:pPr algn="ctr"/>
            <a:r>
              <a:rPr lang="en-US" b="1" dirty="0"/>
              <a:t>What is compliance?</a:t>
            </a:r>
          </a:p>
        </p:txBody>
      </p:sp>
      <p:sp>
        <p:nvSpPr>
          <p:cNvPr id="3" name="Content Placeholder 2">
            <a:extLst>
              <a:ext uri="{FF2B5EF4-FFF2-40B4-BE49-F238E27FC236}">
                <a16:creationId xmlns:a16="http://schemas.microsoft.com/office/drawing/2014/main" id="{EDED96F0-E983-FA92-49B0-EB66918D418E}"/>
              </a:ext>
            </a:extLst>
          </p:cNvPr>
          <p:cNvSpPr>
            <a:spLocks noGrp="1"/>
          </p:cNvSpPr>
          <p:nvPr>
            <p:ph sz="half" idx="1"/>
          </p:nvPr>
        </p:nvSpPr>
        <p:spPr>
          <a:xfrm>
            <a:off x="335505" y="847773"/>
            <a:ext cx="5181600" cy="449705"/>
          </a:xfrm>
        </p:spPr>
        <p:txBody>
          <a:bodyPr>
            <a:noAutofit/>
          </a:bodyPr>
          <a:lstStyle/>
          <a:p>
            <a:pPr marL="0" indent="0" algn="ctr">
              <a:buNone/>
            </a:pPr>
            <a:r>
              <a:rPr lang="en-US" sz="1600" dirty="0"/>
              <a:t>“Great. Another checklist.”</a:t>
            </a:r>
          </a:p>
          <a:p>
            <a:pPr marL="0" indent="0" algn="ctr">
              <a:buNone/>
            </a:pPr>
            <a:r>
              <a:rPr lang="en-US" sz="1600" dirty="0"/>
              <a:t>- Bob the Robot shortly before his head exploded.</a:t>
            </a:r>
            <a:r>
              <a:rPr lang="en-US" sz="900" dirty="0"/>
              <a:t> </a:t>
            </a:r>
          </a:p>
        </p:txBody>
      </p:sp>
      <p:pic>
        <p:nvPicPr>
          <p:cNvPr id="6" name="Content Placeholder 5">
            <a:extLst>
              <a:ext uri="{FF2B5EF4-FFF2-40B4-BE49-F238E27FC236}">
                <a16:creationId xmlns:a16="http://schemas.microsoft.com/office/drawing/2014/main" id="{F5685703-4886-ACC1-4606-9BCA64E166F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965818" y="1528996"/>
            <a:ext cx="4551287" cy="5046256"/>
          </a:xfrm>
          <a:prstGeom prst="rect">
            <a:avLst/>
          </a:prstGeom>
        </p:spPr>
      </p:pic>
      <p:sp>
        <p:nvSpPr>
          <p:cNvPr id="7" name="TextBox 6">
            <a:extLst>
              <a:ext uri="{FF2B5EF4-FFF2-40B4-BE49-F238E27FC236}">
                <a16:creationId xmlns:a16="http://schemas.microsoft.com/office/drawing/2014/main" id="{E170544B-5A4B-359B-0EE1-7D78089FBC5F}"/>
              </a:ext>
            </a:extLst>
          </p:cNvPr>
          <p:cNvSpPr txBox="1"/>
          <p:nvPr/>
        </p:nvSpPr>
        <p:spPr>
          <a:xfrm>
            <a:off x="6505731" y="1528996"/>
            <a:ext cx="4720451" cy="5078313"/>
          </a:xfrm>
          <a:prstGeom prst="rect">
            <a:avLst/>
          </a:prstGeom>
          <a:noFill/>
        </p:spPr>
        <p:txBody>
          <a:bodyPr wrap="square" rtlCol="0">
            <a:spAutoFit/>
          </a:bodyPr>
          <a:lstStyle/>
          <a:p>
            <a:r>
              <a:rPr lang="en-US" dirty="0"/>
              <a:t>Compliance isn’t complicated or boring.</a:t>
            </a:r>
          </a:p>
          <a:p>
            <a:endParaRPr lang="en-US" dirty="0"/>
          </a:p>
          <a:p>
            <a:r>
              <a:rPr lang="en-US" dirty="0"/>
              <a:t>No, really!</a:t>
            </a:r>
          </a:p>
          <a:p>
            <a:endParaRPr lang="en-US" dirty="0"/>
          </a:p>
          <a:p>
            <a:r>
              <a:rPr lang="en-US" dirty="0"/>
              <a:t>A wise man once said “The fastest cars have the best brakes.”</a:t>
            </a:r>
          </a:p>
          <a:p>
            <a:endParaRPr lang="en-US" dirty="0"/>
          </a:p>
          <a:p>
            <a:r>
              <a:rPr lang="en-US" dirty="0"/>
              <a:t>Compliance isn’t meant to rain on your parade. It wants to get you where you’re going safe and sound while minimizing risk.</a:t>
            </a:r>
          </a:p>
          <a:p>
            <a:endParaRPr lang="en-US" dirty="0"/>
          </a:p>
          <a:p>
            <a:r>
              <a:rPr lang="en-US" dirty="0"/>
              <a:t>Compliance means following the rules. </a:t>
            </a:r>
          </a:p>
          <a:p>
            <a:endParaRPr lang="en-US" dirty="0"/>
          </a:p>
          <a:p>
            <a:r>
              <a:rPr lang="en-US" dirty="0"/>
              <a:t>Whether those are laws, industry standards, and/or internal company policies, compliance makes sure that you or your organization operate legally, safely, and ethically to avoid penalties and protect your reputation. </a:t>
            </a:r>
          </a:p>
        </p:txBody>
      </p:sp>
    </p:spTree>
    <p:extLst>
      <p:ext uri="{BB962C8B-B14F-4D97-AF65-F5344CB8AC3E}">
        <p14:creationId xmlns:p14="http://schemas.microsoft.com/office/powerpoint/2010/main" val="1949468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9316B-76BF-4AE8-7860-2C15903085D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69F7830-39BD-CB97-338A-9777856487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E550C138-D0BD-DB5D-C9A7-A832C724F771}"/>
              </a:ext>
            </a:extLst>
          </p:cNvPr>
          <p:cNvSpPr/>
          <p:nvPr/>
        </p:nvSpPr>
        <p:spPr>
          <a:xfrm rot="20368090">
            <a:off x="2858613" y="335114"/>
            <a:ext cx="3477234" cy="646331"/>
          </a:xfrm>
          <a:prstGeom prst="rect">
            <a:avLst/>
          </a:prstGeom>
          <a:noFill/>
          <a:ln>
            <a:noFill/>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txBody>
          <a:bodyPr wrap="none" lIns="91440" tIns="45720" rIns="91440" bIns="45720">
            <a:spAutoFit/>
          </a:bodyPr>
          <a:lstStyle/>
          <a:p>
            <a:pPr algn="ctr"/>
            <a:r>
              <a:rPr lang="en-US" sz="3600" b="1" cap="none" spc="0" dirty="0">
                <a:ln w="12700">
                  <a:solidFill>
                    <a:schemeClr val="accent3">
                      <a:lumMod val="50000"/>
                    </a:schemeClr>
                  </a:solidFill>
                  <a:prstDash val="solid"/>
                </a:ln>
                <a:solidFill>
                  <a:schemeClr val="tx2">
                    <a:lumMod val="50000"/>
                    <a:lumOff val="50000"/>
                  </a:schemeClr>
                </a:solidFill>
                <a:effectLst>
                  <a:innerShdw blurRad="177800">
                    <a:schemeClr val="accent3">
                      <a:lumMod val="50000"/>
                    </a:schemeClr>
                  </a:innerShdw>
                </a:effectLst>
              </a:rPr>
              <a:t>Phishing Basics</a:t>
            </a:r>
          </a:p>
        </p:txBody>
      </p:sp>
    </p:spTree>
    <p:extLst>
      <p:ext uri="{BB962C8B-B14F-4D97-AF65-F5344CB8AC3E}">
        <p14:creationId xmlns:p14="http://schemas.microsoft.com/office/powerpoint/2010/main" val="3455328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59FBA7-9810-4AE4-50C3-89A01458C8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CC9C13-4E50-D458-DC19-E6395BCBB1AE}"/>
              </a:ext>
            </a:extLst>
          </p:cNvPr>
          <p:cNvSpPr>
            <a:spLocks noGrp="1"/>
          </p:cNvSpPr>
          <p:nvPr>
            <p:ph type="title"/>
          </p:nvPr>
        </p:nvSpPr>
        <p:spPr/>
        <p:txBody>
          <a:bodyPr/>
          <a:lstStyle/>
          <a:p>
            <a:pPr algn="ctr"/>
            <a:r>
              <a:rPr lang="en-US" b="1" dirty="0"/>
              <a:t>Phishing</a:t>
            </a:r>
          </a:p>
        </p:txBody>
      </p:sp>
      <p:sp>
        <p:nvSpPr>
          <p:cNvPr id="3" name="Content Placeholder 2">
            <a:extLst>
              <a:ext uri="{FF2B5EF4-FFF2-40B4-BE49-F238E27FC236}">
                <a16:creationId xmlns:a16="http://schemas.microsoft.com/office/drawing/2014/main" id="{A9D26091-E9D0-75E3-94E9-034514D6355E}"/>
              </a:ext>
            </a:extLst>
          </p:cNvPr>
          <p:cNvSpPr>
            <a:spLocks noGrp="1"/>
          </p:cNvSpPr>
          <p:nvPr>
            <p:ph sz="half" idx="1"/>
          </p:nvPr>
        </p:nvSpPr>
        <p:spPr>
          <a:xfrm>
            <a:off x="838200" y="1810635"/>
            <a:ext cx="5181600" cy="4351338"/>
          </a:xfrm>
        </p:spPr>
        <p:txBody>
          <a:bodyPr>
            <a:normAutofit fontScale="92500"/>
          </a:bodyPr>
          <a:lstStyle/>
          <a:p>
            <a:pPr marL="0" indent="0">
              <a:lnSpc>
                <a:spcPct val="100000"/>
              </a:lnSpc>
              <a:spcBef>
                <a:spcPts val="0"/>
              </a:spcBef>
              <a:buNone/>
            </a:pPr>
            <a:r>
              <a:rPr lang="en-US" b="1" dirty="0"/>
              <a:t>What it isn’t:</a:t>
            </a:r>
          </a:p>
          <a:p>
            <a:pPr marL="0" indent="0">
              <a:lnSpc>
                <a:spcPct val="100000"/>
              </a:lnSpc>
              <a:spcBef>
                <a:spcPts val="0"/>
              </a:spcBef>
              <a:buNone/>
            </a:pPr>
            <a:endParaRPr lang="en-US" dirty="0"/>
          </a:p>
          <a:p>
            <a:pPr marL="0" indent="0">
              <a:lnSpc>
                <a:spcPct val="100000"/>
              </a:lnSpc>
              <a:spcBef>
                <a:spcPts val="0"/>
              </a:spcBef>
              <a:buNone/>
            </a:pPr>
            <a:r>
              <a:rPr lang="en-US" strike="sngStrike" dirty="0"/>
              <a:t>Where Elmer Fudd goes to catch seafood.</a:t>
            </a:r>
          </a:p>
          <a:p>
            <a:pPr marL="0" indent="0">
              <a:lnSpc>
                <a:spcPct val="100000"/>
              </a:lnSpc>
              <a:spcBef>
                <a:spcPts val="0"/>
              </a:spcBef>
              <a:buNone/>
            </a:pPr>
            <a:endParaRPr lang="en-US" dirty="0"/>
          </a:p>
          <a:p>
            <a:pPr marL="0" indent="0">
              <a:lnSpc>
                <a:spcPct val="100000"/>
              </a:lnSpc>
              <a:spcBef>
                <a:spcPts val="0"/>
              </a:spcBef>
              <a:buNone/>
            </a:pPr>
            <a:r>
              <a:rPr lang="en-US" strike="sngStrike" dirty="0"/>
              <a:t>Leaving it all behind to follow the band Phish on tour.</a:t>
            </a:r>
          </a:p>
        </p:txBody>
      </p:sp>
      <p:sp>
        <p:nvSpPr>
          <p:cNvPr id="4" name="Content Placeholder 3">
            <a:extLst>
              <a:ext uri="{FF2B5EF4-FFF2-40B4-BE49-F238E27FC236}">
                <a16:creationId xmlns:a16="http://schemas.microsoft.com/office/drawing/2014/main" id="{D5A1C948-726A-5F4A-7306-9E1CDC3D6E19}"/>
              </a:ext>
            </a:extLst>
          </p:cNvPr>
          <p:cNvSpPr>
            <a:spLocks noGrp="1"/>
          </p:cNvSpPr>
          <p:nvPr>
            <p:ph sz="half" idx="2"/>
          </p:nvPr>
        </p:nvSpPr>
        <p:spPr/>
        <p:txBody>
          <a:bodyPr>
            <a:normAutofit fontScale="92500"/>
          </a:bodyPr>
          <a:lstStyle/>
          <a:p>
            <a:pPr marL="0" indent="0">
              <a:buNone/>
            </a:pPr>
            <a:r>
              <a:rPr lang="en-US" b="1" dirty="0"/>
              <a:t>What it is:</a:t>
            </a:r>
          </a:p>
          <a:p>
            <a:pPr marL="0" indent="0">
              <a:buNone/>
            </a:pPr>
            <a:r>
              <a:rPr lang="en-US" sz="2600" dirty="0"/>
              <a:t>Phishing is a type of cyberattack where scammers deceive people into revealing sensitive information like passwords, credit card numbers, or social security details by impersonating a trusted source. </a:t>
            </a:r>
          </a:p>
          <a:p>
            <a:pPr marL="0" indent="0">
              <a:buNone/>
            </a:pPr>
            <a:r>
              <a:rPr lang="en-US" sz="2600" dirty="0"/>
              <a:t>In 2026, these attacks have become increasingly sophisticated, often using AI-generated content and QR codes to bypass traditional security filters.</a:t>
            </a:r>
          </a:p>
        </p:txBody>
      </p:sp>
    </p:spTree>
    <p:extLst>
      <p:ext uri="{BB962C8B-B14F-4D97-AF65-F5344CB8AC3E}">
        <p14:creationId xmlns:p14="http://schemas.microsoft.com/office/powerpoint/2010/main" val="1655567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FB27D-DF62-563D-8C75-087A5B53F078}"/>
              </a:ext>
            </a:extLst>
          </p:cNvPr>
          <p:cNvSpPr>
            <a:spLocks noGrp="1"/>
          </p:cNvSpPr>
          <p:nvPr>
            <p:ph type="title"/>
          </p:nvPr>
        </p:nvSpPr>
        <p:spPr/>
        <p:txBody>
          <a:bodyPr/>
          <a:lstStyle/>
          <a:p>
            <a:pPr algn="ctr"/>
            <a:r>
              <a:rPr lang="en-US" b="1" dirty="0"/>
              <a:t>How to Protect Yourself</a:t>
            </a:r>
          </a:p>
        </p:txBody>
      </p:sp>
      <p:sp>
        <p:nvSpPr>
          <p:cNvPr id="3" name="Content Placeholder 2">
            <a:extLst>
              <a:ext uri="{FF2B5EF4-FFF2-40B4-BE49-F238E27FC236}">
                <a16:creationId xmlns:a16="http://schemas.microsoft.com/office/drawing/2014/main" id="{132EA97A-168A-0260-7696-B3AE0DE8ED8A}"/>
              </a:ext>
            </a:extLst>
          </p:cNvPr>
          <p:cNvSpPr>
            <a:spLocks noGrp="1"/>
          </p:cNvSpPr>
          <p:nvPr>
            <p:ph idx="1"/>
          </p:nvPr>
        </p:nvSpPr>
        <p:spPr/>
        <p:txBody>
          <a:bodyPr>
            <a:normAutofit fontScale="77500" lnSpcReduction="20000"/>
          </a:bodyPr>
          <a:lstStyle/>
          <a:p>
            <a:r>
              <a:rPr lang="en-US" b="1" dirty="0"/>
              <a:t>Use Multi-Factor Authentication (MFA):</a:t>
            </a:r>
            <a:r>
              <a:rPr lang="en-US" dirty="0"/>
              <a:t> Enable app-based MFA (like Google Authenticator) or hardware keys (like YubiKey) on all critical accounts. Avoid SMS-based codes when possible, as they’re vulnerable to SIM swapping.</a:t>
            </a:r>
          </a:p>
          <a:p>
            <a:pPr lvl="0"/>
            <a:r>
              <a:rPr lang="en-US" b="1" dirty="0"/>
              <a:t>Verify Independently:</a:t>
            </a:r>
            <a:r>
              <a:rPr lang="en-US" dirty="0"/>
              <a:t> If you receive a suspicious request from an organization, DO </a:t>
            </a:r>
            <a:r>
              <a:rPr lang="en-US" u="sng" dirty="0"/>
              <a:t>NOT</a:t>
            </a:r>
            <a:r>
              <a:rPr lang="en-US" dirty="0"/>
              <a:t> use the contact info provided in the message! Instead, visit their </a:t>
            </a:r>
            <a:r>
              <a:rPr lang="en-US" u="sng" dirty="0"/>
              <a:t>official website</a:t>
            </a:r>
            <a:r>
              <a:rPr lang="en-US" dirty="0"/>
              <a:t> directly or call a verified number from a past statement.</a:t>
            </a:r>
          </a:p>
          <a:p>
            <a:pPr lvl="0"/>
            <a:r>
              <a:rPr lang="en-US" b="1" dirty="0"/>
              <a:t>Think Before You Click:</a:t>
            </a:r>
            <a:r>
              <a:rPr lang="en-US" dirty="0"/>
              <a:t> Hover your mouse over links to see the true destination URL. If a link takes you to a login page you didn't expect, close the tab and navigate to the site yourself.</a:t>
            </a:r>
          </a:p>
          <a:p>
            <a:pPr lvl="0"/>
            <a:r>
              <a:rPr lang="en-US" b="1" dirty="0"/>
              <a:t>Use a Password Manager:</a:t>
            </a:r>
            <a:r>
              <a:rPr lang="en-US" dirty="0"/>
              <a:t> Tools like Bitwarden or 1Password can generate and store unique, 20+ character passwords for every site, preventing "credential stuffing" if one site is breached.</a:t>
            </a:r>
          </a:p>
          <a:p>
            <a:r>
              <a:rPr lang="en-US" b="1" dirty="0"/>
              <a:t>Keep Software Updated:</a:t>
            </a:r>
            <a:r>
              <a:rPr lang="en-US" dirty="0"/>
              <a:t> Regularly update your operating system and security software to protect against the latest threats and vulnerabilities.</a:t>
            </a:r>
          </a:p>
        </p:txBody>
      </p:sp>
    </p:spTree>
    <p:extLst>
      <p:ext uri="{BB962C8B-B14F-4D97-AF65-F5344CB8AC3E}">
        <p14:creationId xmlns:p14="http://schemas.microsoft.com/office/powerpoint/2010/main" val="3093265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791E07-71AB-72A8-4922-7337B76844B5}"/>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F206F549-1CF1-10EE-8CA0-8B24D7921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336905" cy="6858000"/>
          </a:xfrm>
          <a:prstGeom prst="rect">
            <a:avLst/>
          </a:prstGeom>
        </p:spPr>
      </p:pic>
      <p:sp>
        <p:nvSpPr>
          <p:cNvPr id="8" name="Rectangle 7">
            <a:extLst>
              <a:ext uri="{FF2B5EF4-FFF2-40B4-BE49-F238E27FC236}">
                <a16:creationId xmlns:a16="http://schemas.microsoft.com/office/drawing/2014/main" id="{61BDF9D3-3A56-3E0F-66E7-DFFD3D2E69DA}"/>
              </a:ext>
            </a:extLst>
          </p:cNvPr>
          <p:cNvSpPr/>
          <p:nvPr/>
        </p:nvSpPr>
        <p:spPr>
          <a:xfrm>
            <a:off x="1199930" y="0"/>
            <a:ext cx="3076548" cy="923330"/>
          </a:xfrm>
          <a:prstGeom prst="rect">
            <a:avLst/>
          </a:prstGeom>
          <a:noFill/>
          <a:scene3d>
            <a:camera prst="perspectiveRelaxed"/>
            <a:lightRig rig="threePt" dir="t"/>
          </a:scene3d>
        </p:spPr>
        <p:txBody>
          <a:bodyPr wrap="none" lIns="91440" tIns="45720" rIns="91440" bIns="45720">
            <a:spAutoFit/>
          </a:bodyPr>
          <a:lstStyle/>
          <a:p>
            <a:pPr algn="ctr"/>
            <a:r>
              <a:rPr lang="en-US" sz="5400" b="0" cap="none" spc="0" dirty="0">
                <a:ln w="0"/>
                <a:solidFill>
                  <a:schemeClr val="bg1"/>
                </a:solidFill>
                <a:effectLst>
                  <a:outerShdw blurRad="38100" dist="25400" dir="5400000" algn="ctr" rotWithShape="0">
                    <a:srgbClr val="6E747A">
                      <a:alpha val="43000"/>
                    </a:srgbClr>
                  </a:outerShdw>
                </a:effectLst>
              </a:rPr>
              <a:t>Password</a:t>
            </a:r>
          </a:p>
        </p:txBody>
      </p:sp>
      <p:sp>
        <p:nvSpPr>
          <p:cNvPr id="9" name="Rectangle 8">
            <a:extLst>
              <a:ext uri="{FF2B5EF4-FFF2-40B4-BE49-F238E27FC236}">
                <a16:creationId xmlns:a16="http://schemas.microsoft.com/office/drawing/2014/main" id="{C79C4FC9-046A-99B1-621E-CCF74D730B42}"/>
              </a:ext>
            </a:extLst>
          </p:cNvPr>
          <p:cNvSpPr/>
          <p:nvPr/>
        </p:nvSpPr>
        <p:spPr>
          <a:xfrm>
            <a:off x="1652042" y="338713"/>
            <a:ext cx="2624436" cy="923330"/>
          </a:xfrm>
          <a:prstGeom prst="rect">
            <a:avLst/>
          </a:prstGeom>
          <a:noFill/>
          <a:scene3d>
            <a:camera prst="perspectiveRelaxed"/>
            <a:lightRig rig="threePt" dir="t"/>
          </a:scene3d>
        </p:spPr>
        <p:txBody>
          <a:bodyPr wrap="none" lIns="91440" tIns="45720" rIns="91440" bIns="45720">
            <a:spAutoFit/>
          </a:bodyPr>
          <a:lstStyle/>
          <a:p>
            <a:pPr algn="ctr"/>
            <a:r>
              <a:rPr lang="en-US" sz="5400" b="0" cap="none" spc="0" dirty="0">
                <a:ln w="0"/>
                <a:solidFill>
                  <a:schemeClr val="bg1"/>
                </a:solidFill>
                <a:effectLst>
                  <a:outerShdw blurRad="38100" dist="25400" dir="5400000" algn="ctr" rotWithShape="0">
                    <a:srgbClr val="6E747A">
                      <a:alpha val="43000"/>
                    </a:srgbClr>
                  </a:outerShdw>
                </a:effectLst>
              </a:rPr>
              <a:t>Security</a:t>
            </a:r>
          </a:p>
        </p:txBody>
      </p:sp>
    </p:spTree>
    <p:extLst>
      <p:ext uri="{BB962C8B-B14F-4D97-AF65-F5344CB8AC3E}">
        <p14:creationId xmlns:p14="http://schemas.microsoft.com/office/powerpoint/2010/main" val="11432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69CD9-F1C5-D5FD-6ACC-339F33D83CF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44B42F-833F-9261-8A4E-B658A0BF6F77}"/>
              </a:ext>
            </a:extLst>
          </p:cNvPr>
          <p:cNvSpPr>
            <a:spLocks noGrp="1"/>
          </p:cNvSpPr>
          <p:nvPr>
            <p:ph sz="half" idx="1"/>
          </p:nvPr>
        </p:nvSpPr>
        <p:spPr/>
        <p:txBody>
          <a:bodyPr>
            <a:normAutofit fontScale="92500" lnSpcReduction="20000"/>
          </a:bodyPr>
          <a:lstStyle/>
          <a:p>
            <a:pPr marL="0" indent="0">
              <a:buNone/>
            </a:pPr>
            <a:r>
              <a:rPr lang="en-US" b="1" i="1" dirty="0"/>
              <a:t>123456</a:t>
            </a:r>
          </a:p>
          <a:p>
            <a:pPr marL="0" indent="0">
              <a:buNone/>
            </a:pPr>
            <a:r>
              <a:rPr lang="en-US" b="1" i="1" dirty="0"/>
              <a:t>Password1</a:t>
            </a:r>
          </a:p>
          <a:p>
            <a:pPr marL="0" indent="0">
              <a:buNone/>
            </a:pPr>
            <a:r>
              <a:rPr lang="en-US" b="1" i="1" dirty="0"/>
              <a:t>Mynamewithnospaces</a:t>
            </a:r>
          </a:p>
          <a:p>
            <a:pPr marL="0" indent="0">
              <a:buNone/>
            </a:pPr>
            <a:endParaRPr lang="en-US" dirty="0"/>
          </a:p>
          <a:p>
            <a:pPr marL="0" indent="0">
              <a:buNone/>
            </a:pPr>
            <a:r>
              <a:rPr lang="en-US" dirty="0"/>
              <a:t>Please.</a:t>
            </a:r>
          </a:p>
          <a:p>
            <a:pPr marL="0" indent="0">
              <a:buNone/>
            </a:pPr>
            <a:r>
              <a:rPr lang="en-US" dirty="0"/>
              <a:t>Don’t.</a:t>
            </a:r>
          </a:p>
          <a:p>
            <a:pPr marL="0" indent="0">
              <a:buNone/>
            </a:pPr>
            <a:r>
              <a:rPr lang="en-US" dirty="0"/>
              <a:t>Use.</a:t>
            </a:r>
          </a:p>
          <a:p>
            <a:pPr marL="0" indent="0">
              <a:buNone/>
            </a:pPr>
            <a:r>
              <a:rPr lang="en-US" dirty="0"/>
              <a:t>These.</a:t>
            </a:r>
          </a:p>
          <a:p>
            <a:pPr marL="0" indent="0">
              <a:buNone/>
            </a:pPr>
            <a:r>
              <a:rPr lang="en-US" dirty="0"/>
              <a:t>Passwords!</a:t>
            </a:r>
          </a:p>
        </p:txBody>
      </p:sp>
      <p:sp>
        <p:nvSpPr>
          <p:cNvPr id="4" name="Content Placeholder 3">
            <a:extLst>
              <a:ext uri="{FF2B5EF4-FFF2-40B4-BE49-F238E27FC236}">
                <a16:creationId xmlns:a16="http://schemas.microsoft.com/office/drawing/2014/main" id="{07A9C786-9445-BBBE-CCEA-F9BC28C670BB}"/>
              </a:ext>
            </a:extLst>
          </p:cNvPr>
          <p:cNvSpPr>
            <a:spLocks noGrp="1"/>
          </p:cNvSpPr>
          <p:nvPr>
            <p:ph sz="half" idx="2"/>
          </p:nvPr>
        </p:nvSpPr>
        <p:spPr/>
        <p:txBody>
          <a:bodyPr>
            <a:normAutofit fontScale="92500" lnSpcReduction="20000"/>
          </a:bodyPr>
          <a:lstStyle/>
          <a:p>
            <a:pPr marL="0" indent="0">
              <a:buNone/>
            </a:pPr>
            <a:r>
              <a:rPr lang="en-US" sz="2400" dirty="0"/>
              <a:t>Password security is the practice of creating and managing credentials to prevent unauthorized access to your digital accounts.</a:t>
            </a:r>
          </a:p>
          <a:p>
            <a:pPr marL="0" indent="0">
              <a:buNone/>
            </a:pPr>
            <a:endParaRPr lang="en-US" sz="2400" dirty="0"/>
          </a:p>
          <a:p>
            <a:pPr marL="0" indent="0">
              <a:buNone/>
            </a:pPr>
            <a:r>
              <a:rPr lang="en-US" sz="2400" dirty="0"/>
              <a:t>It’s important because passwords are the primary "keys" to your personal identity, financial information, and private communications.</a:t>
            </a:r>
          </a:p>
          <a:p>
            <a:pPr marL="0" indent="0">
              <a:buNone/>
            </a:pPr>
            <a:endParaRPr lang="en-US" sz="2400" dirty="0"/>
          </a:p>
          <a:p>
            <a:pPr marL="0" indent="0">
              <a:buNone/>
            </a:pPr>
            <a:r>
              <a:rPr lang="en-US" sz="2400" dirty="0"/>
              <a:t>A </a:t>
            </a:r>
            <a:r>
              <a:rPr lang="en-US" sz="2400" i="1" dirty="0"/>
              <a:t>single</a:t>
            </a:r>
            <a:r>
              <a:rPr lang="en-US" sz="2400" dirty="0"/>
              <a:t> weak password can allow a hacker to compromise your entire digital life through credential stuffing or identity theft.</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9002467C-E28C-98E7-6427-8427C0D08841}"/>
                  </a:ext>
                </a:extLst>
              </p14:cNvPr>
              <p14:cNvContentPartPr/>
              <p14:nvPr/>
            </p14:nvContentPartPr>
            <p14:xfrm>
              <a:off x="281933" y="1378328"/>
              <a:ext cx="4485960" cy="2086200"/>
            </p14:xfrm>
          </p:contentPart>
        </mc:Choice>
        <mc:Fallback xmlns="">
          <p:pic>
            <p:nvPicPr>
              <p:cNvPr id="5" name="Ink 4">
                <a:extLst>
                  <a:ext uri="{FF2B5EF4-FFF2-40B4-BE49-F238E27FC236}">
                    <a16:creationId xmlns:a16="http://schemas.microsoft.com/office/drawing/2014/main" id="{9002467C-E28C-98E7-6427-8427C0D08841}"/>
                  </a:ext>
                </a:extLst>
              </p:cNvPr>
              <p:cNvPicPr/>
              <p:nvPr/>
            </p:nvPicPr>
            <p:blipFill>
              <a:blip r:embed="rId3"/>
              <a:stretch>
                <a:fillRect/>
              </a:stretch>
            </p:blipFill>
            <p:spPr>
              <a:xfrm>
                <a:off x="228293" y="1270328"/>
                <a:ext cx="4593600" cy="2301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6129A87F-B4D9-C39B-218C-5D29BF258771}"/>
                  </a:ext>
                </a:extLst>
              </p14:cNvPr>
              <p14:cNvContentPartPr/>
              <p14:nvPr/>
            </p14:nvContentPartPr>
            <p14:xfrm>
              <a:off x="1141253" y="1678928"/>
              <a:ext cx="2396520" cy="1530720"/>
            </p14:xfrm>
          </p:contentPart>
        </mc:Choice>
        <mc:Fallback xmlns="">
          <p:pic>
            <p:nvPicPr>
              <p:cNvPr id="6" name="Ink 5">
                <a:extLst>
                  <a:ext uri="{FF2B5EF4-FFF2-40B4-BE49-F238E27FC236}">
                    <a16:creationId xmlns:a16="http://schemas.microsoft.com/office/drawing/2014/main" id="{6129A87F-B4D9-C39B-218C-5D29BF258771}"/>
                  </a:ext>
                </a:extLst>
              </p:cNvPr>
              <p:cNvPicPr/>
              <p:nvPr/>
            </p:nvPicPr>
            <p:blipFill>
              <a:blip r:embed="rId5"/>
              <a:stretch>
                <a:fillRect/>
              </a:stretch>
            </p:blipFill>
            <p:spPr>
              <a:xfrm>
                <a:off x="1087613" y="1570928"/>
                <a:ext cx="2504160" cy="1746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A3823F80-2B9E-5ABB-6F39-2BC1E3BC1F83}"/>
                  </a:ext>
                </a:extLst>
              </p14:cNvPr>
              <p14:cNvContentPartPr/>
              <p14:nvPr/>
            </p14:nvContentPartPr>
            <p14:xfrm>
              <a:off x="794213" y="1618808"/>
              <a:ext cx="3349800" cy="1611720"/>
            </p14:xfrm>
          </p:contentPart>
        </mc:Choice>
        <mc:Fallback xmlns="">
          <p:pic>
            <p:nvPicPr>
              <p:cNvPr id="7" name="Ink 6">
                <a:extLst>
                  <a:ext uri="{FF2B5EF4-FFF2-40B4-BE49-F238E27FC236}">
                    <a16:creationId xmlns:a16="http://schemas.microsoft.com/office/drawing/2014/main" id="{A3823F80-2B9E-5ABB-6F39-2BC1E3BC1F83}"/>
                  </a:ext>
                </a:extLst>
              </p:cNvPr>
              <p:cNvPicPr/>
              <p:nvPr/>
            </p:nvPicPr>
            <p:blipFill>
              <a:blip r:embed="rId7"/>
              <a:stretch>
                <a:fillRect/>
              </a:stretch>
            </p:blipFill>
            <p:spPr>
              <a:xfrm>
                <a:off x="740573" y="1510808"/>
                <a:ext cx="3457440" cy="1827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B329CD5A-271E-53A6-FBE5-7704725193EE}"/>
                  </a:ext>
                </a:extLst>
              </p14:cNvPr>
              <p14:cNvContentPartPr/>
              <p14:nvPr/>
            </p14:nvContentPartPr>
            <p14:xfrm>
              <a:off x="2817773" y="3935048"/>
              <a:ext cx="9720" cy="1311840"/>
            </p14:xfrm>
          </p:contentPart>
        </mc:Choice>
        <mc:Fallback xmlns="">
          <p:pic>
            <p:nvPicPr>
              <p:cNvPr id="8" name="Ink 7">
                <a:extLst>
                  <a:ext uri="{FF2B5EF4-FFF2-40B4-BE49-F238E27FC236}">
                    <a16:creationId xmlns:a16="http://schemas.microsoft.com/office/drawing/2014/main" id="{B329CD5A-271E-53A6-FBE5-7704725193EE}"/>
                  </a:ext>
                </a:extLst>
              </p:cNvPr>
              <p:cNvPicPr/>
              <p:nvPr/>
            </p:nvPicPr>
            <p:blipFill>
              <a:blip r:embed="rId9"/>
              <a:stretch>
                <a:fillRect/>
              </a:stretch>
            </p:blipFill>
            <p:spPr>
              <a:xfrm>
                <a:off x="2763773" y="3827048"/>
                <a:ext cx="117360" cy="1527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F7FA24AE-0B77-1DDB-1C6C-1278DC5FF871}"/>
                  </a:ext>
                </a:extLst>
              </p14:cNvPr>
              <p14:cNvContentPartPr/>
              <p14:nvPr/>
            </p14:nvContentPartPr>
            <p14:xfrm>
              <a:off x="2548493" y="3942248"/>
              <a:ext cx="284760" cy="240120"/>
            </p14:xfrm>
          </p:contentPart>
        </mc:Choice>
        <mc:Fallback xmlns="">
          <p:pic>
            <p:nvPicPr>
              <p:cNvPr id="10" name="Ink 9">
                <a:extLst>
                  <a:ext uri="{FF2B5EF4-FFF2-40B4-BE49-F238E27FC236}">
                    <a16:creationId xmlns:a16="http://schemas.microsoft.com/office/drawing/2014/main" id="{F7FA24AE-0B77-1DDB-1C6C-1278DC5FF871}"/>
                  </a:ext>
                </a:extLst>
              </p:cNvPr>
              <p:cNvPicPr/>
              <p:nvPr/>
            </p:nvPicPr>
            <p:blipFill>
              <a:blip r:embed="rId11"/>
              <a:stretch>
                <a:fillRect/>
              </a:stretch>
            </p:blipFill>
            <p:spPr>
              <a:xfrm>
                <a:off x="2494853" y="3834086"/>
                <a:ext cx="392400" cy="456084"/>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2DED8CE7-1262-10FA-2CDE-D3009953AC73}"/>
                  </a:ext>
                </a:extLst>
              </p14:cNvPr>
              <p14:cNvContentPartPr/>
              <p14:nvPr/>
            </p14:nvContentPartPr>
            <p14:xfrm>
              <a:off x="2848013" y="3972128"/>
              <a:ext cx="182880" cy="339120"/>
            </p14:xfrm>
          </p:contentPart>
        </mc:Choice>
        <mc:Fallback xmlns="">
          <p:pic>
            <p:nvPicPr>
              <p:cNvPr id="12" name="Ink 11">
                <a:extLst>
                  <a:ext uri="{FF2B5EF4-FFF2-40B4-BE49-F238E27FC236}">
                    <a16:creationId xmlns:a16="http://schemas.microsoft.com/office/drawing/2014/main" id="{2DED8CE7-1262-10FA-2CDE-D3009953AC73}"/>
                  </a:ext>
                </a:extLst>
              </p:cNvPr>
              <p:cNvPicPr/>
              <p:nvPr/>
            </p:nvPicPr>
            <p:blipFill>
              <a:blip r:embed="rId13"/>
              <a:stretch>
                <a:fillRect/>
              </a:stretch>
            </p:blipFill>
            <p:spPr>
              <a:xfrm>
                <a:off x="2794373" y="3864488"/>
                <a:ext cx="290520" cy="554760"/>
              </a:xfrm>
              <a:prstGeom prst="rect">
                <a:avLst/>
              </a:prstGeom>
            </p:spPr>
          </p:pic>
        </mc:Fallback>
      </mc:AlternateContent>
    </p:spTree>
    <p:extLst>
      <p:ext uri="{BB962C8B-B14F-4D97-AF65-F5344CB8AC3E}">
        <p14:creationId xmlns:p14="http://schemas.microsoft.com/office/powerpoint/2010/main" val="3485740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1A8FD-BB33-E812-9F07-DA49B136543D}"/>
              </a:ext>
            </a:extLst>
          </p:cNvPr>
          <p:cNvSpPr>
            <a:spLocks noGrp="1"/>
          </p:cNvSpPr>
          <p:nvPr>
            <p:ph type="title"/>
          </p:nvPr>
        </p:nvSpPr>
        <p:spPr/>
        <p:txBody>
          <a:bodyPr/>
          <a:lstStyle/>
          <a:p>
            <a:pPr algn="ctr"/>
            <a:r>
              <a:rPr lang="en-US" b="1" dirty="0"/>
              <a:t>How to Create a Secure Password</a:t>
            </a:r>
          </a:p>
        </p:txBody>
      </p:sp>
      <p:sp>
        <p:nvSpPr>
          <p:cNvPr id="3" name="Content Placeholder 2">
            <a:extLst>
              <a:ext uri="{FF2B5EF4-FFF2-40B4-BE49-F238E27FC236}">
                <a16:creationId xmlns:a16="http://schemas.microsoft.com/office/drawing/2014/main" id="{422A53F9-8E4C-55BA-CE1B-CC65E19A2291}"/>
              </a:ext>
            </a:extLst>
          </p:cNvPr>
          <p:cNvSpPr>
            <a:spLocks noGrp="1"/>
          </p:cNvSpPr>
          <p:nvPr>
            <p:ph idx="1"/>
          </p:nvPr>
        </p:nvSpPr>
        <p:spPr/>
        <p:txBody>
          <a:bodyPr>
            <a:normAutofit fontScale="85000" lnSpcReduction="20000"/>
          </a:bodyPr>
          <a:lstStyle/>
          <a:p>
            <a:pPr lvl="0"/>
            <a:r>
              <a:rPr lang="en-US" b="1" dirty="0"/>
              <a:t>Complexity:</a:t>
            </a:r>
            <a:r>
              <a:rPr lang="en-US" dirty="0"/>
              <a:t> Use a mix of uppercase and lowercase letters, numbers, and symbols. A strong password should be at least </a:t>
            </a:r>
            <a:r>
              <a:rPr lang="en-US" b="1" dirty="0"/>
              <a:t>12 to 16 characters</a:t>
            </a:r>
            <a:r>
              <a:rPr lang="en-US" dirty="0"/>
              <a:t> long.</a:t>
            </a:r>
          </a:p>
          <a:p>
            <a:pPr lvl="0"/>
            <a:r>
              <a:rPr lang="en-US" b="1" dirty="0"/>
              <a:t>Uniqueness:</a:t>
            </a:r>
            <a:r>
              <a:rPr lang="en-US" dirty="0"/>
              <a:t> Never reuse passwords across different sites. If one site is breached, hackers will immediately try those same credentials on banking, email, and social media platforms.</a:t>
            </a:r>
          </a:p>
          <a:p>
            <a:pPr lvl="0"/>
            <a:r>
              <a:rPr lang="en-US" b="1" dirty="0"/>
              <a:t>Randomness:</a:t>
            </a:r>
            <a:r>
              <a:rPr lang="en-US" dirty="0"/>
              <a:t> Avoid predictable patterns like "123456," common words ("password"), or personal info like birthdays or pet names.</a:t>
            </a:r>
          </a:p>
          <a:p>
            <a:pPr lvl="0"/>
            <a:r>
              <a:rPr lang="en-US" b="1" dirty="0"/>
              <a:t>Password Managers:</a:t>
            </a:r>
            <a:r>
              <a:rPr lang="en-US" dirty="0"/>
              <a:t> Use a tool like Bitwarden or 1Password to generate and store complex, unique passwords for every account so you only have to remember one master key.</a:t>
            </a:r>
          </a:p>
          <a:p>
            <a:pPr lvl="0"/>
            <a:r>
              <a:rPr lang="en-US" b="1" dirty="0"/>
              <a:t>Multi-Factor Authentication (MFA):</a:t>
            </a:r>
            <a:r>
              <a:rPr lang="en-US" dirty="0"/>
              <a:t> Always enable MFA where available. This adds a second layer of defense, such as a code from an app or a physical security key, making it much harder for attackers to gain access even if they steal your password.</a:t>
            </a:r>
          </a:p>
        </p:txBody>
      </p:sp>
    </p:spTree>
    <p:extLst>
      <p:ext uri="{BB962C8B-B14F-4D97-AF65-F5344CB8AC3E}">
        <p14:creationId xmlns:p14="http://schemas.microsoft.com/office/powerpoint/2010/main" val="1316472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C6DA6-5769-F106-08A9-15F6F466963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83924FD-C6CA-518F-DEA5-01392A4F71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D11C53C0-300D-E23B-3EC7-9408E865FBC2}"/>
              </a:ext>
            </a:extLst>
          </p:cNvPr>
          <p:cNvSpPr/>
          <p:nvPr/>
        </p:nvSpPr>
        <p:spPr>
          <a:xfrm>
            <a:off x="2686920" y="4377128"/>
            <a:ext cx="7986075" cy="923330"/>
          </a:xfrm>
          <a:prstGeom prst="rect">
            <a:avLst/>
          </a:prstGeom>
          <a:noFill/>
          <a:scene3d>
            <a:camera prst="perspectiveHeroicExtremeRightFacing"/>
            <a:lightRig rig="threePt" dir="t"/>
          </a:scene3d>
        </p:spPr>
        <p:txBody>
          <a:bodyPr wrap="square" lIns="91440" tIns="45720" rIns="91440" bIns="45720">
            <a:spAutoFit/>
          </a:bodyPr>
          <a:lstStyle/>
          <a:p>
            <a:pPr algn="ctr"/>
            <a:r>
              <a:rPr lang="en-US" sz="5400" b="1"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Data Collection</a:t>
            </a:r>
          </a:p>
        </p:txBody>
      </p:sp>
    </p:spTree>
    <p:extLst>
      <p:ext uri="{BB962C8B-B14F-4D97-AF65-F5344CB8AC3E}">
        <p14:creationId xmlns:p14="http://schemas.microsoft.com/office/powerpoint/2010/main" val="3209400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9AA4B-B708-627E-A4A7-1EE2AE0E7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E89AE0-98BD-2817-0C10-08C69E35AF9C}"/>
              </a:ext>
            </a:extLst>
          </p:cNvPr>
          <p:cNvSpPr>
            <a:spLocks noGrp="1"/>
          </p:cNvSpPr>
          <p:nvPr>
            <p:ph type="title"/>
          </p:nvPr>
        </p:nvSpPr>
        <p:spPr/>
        <p:txBody>
          <a:bodyPr>
            <a:noAutofit/>
          </a:bodyPr>
          <a:lstStyle/>
          <a:p>
            <a:r>
              <a:rPr lang="en-US" sz="2000" dirty="0"/>
              <a:t>Data protection is the process of safeguarding sensitive information from unauthorized access, loss, or corruption to ensure its privacy and availability. In 2026, data protection has evolved to address sophisticated AI-driven threats and a complex landscape of global regulations.</a:t>
            </a:r>
          </a:p>
        </p:txBody>
      </p:sp>
      <p:sp>
        <p:nvSpPr>
          <p:cNvPr id="3" name="Content Placeholder 2">
            <a:extLst>
              <a:ext uri="{FF2B5EF4-FFF2-40B4-BE49-F238E27FC236}">
                <a16:creationId xmlns:a16="http://schemas.microsoft.com/office/drawing/2014/main" id="{8F22D001-C4A6-E2F7-094B-2544DFE3B07B}"/>
              </a:ext>
            </a:extLst>
          </p:cNvPr>
          <p:cNvSpPr>
            <a:spLocks noGrp="1"/>
          </p:cNvSpPr>
          <p:nvPr>
            <p:ph sz="half" idx="1"/>
          </p:nvPr>
        </p:nvSpPr>
        <p:spPr/>
        <p:txBody>
          <a:bodyPr>
            <a:normAutofit fontScale="70000" lnSpcReduction="20000"/>
          </a:bodyPr>
          <a:lstStyle/>
          <a:p>
            <a:pPr marL="0" indent="0" algn="ctr">
              <a:buNone/>
            </a:pPr>
            <a:r>
              <a:rPr lang="en-US" b="1" dirty="0"/>
              <a:t>Why Data is Collected</a:t>
            </a:r>
            <a:endParaRPr lang="en-US" dirty="0"/>
          </a:p>
          <a:p>
            <a:r>
              <a:rPr lang="en-US" b="1" dirty="0"/>
              <a:t>Service Personalization:</a:t>
            </a:r>
            <a:r>
              <a:rPr lang="en-US" dirty="0"/>
              <a:t> To remember user preferences, like shopping carts or local weather, and provide tailored content.</a:t>
            </a:r>
          </a:p>
          <a:p>
            <a:pPr lvl="0"/>
            <a:r>
              <a:rPr lang="en-US" b="1" dirty="0"/>
              <a:t>Marketing &amp; Advertising:</a:t>
            </a:r>
            <a:r>
              <a:rPr lang="en-US" dirty="0"/>
              <a:t> To build consumer profiles for targeted ads based on demographics, purchase history, and browsing behavior.</a:t>
            </a:r>
          </a:p>
          <a:p>
            <a:pPr lvl="0"/>
            <a:r>
              <a:rPr lang="en-US" b="1" dirty="0"/>
              <a:t>Business Analytics:</a:t>
            </a:r>
            <a:r>
              <a:rPr lang="en-US" dirty="0"/>
              <a:t> To improve user experience by analyzing how people interact with websites and apps.</a:t>
            </a:r>
          </a:p>
          <a:p>
            <a:r>
              <a:rPr lang="en-US" b="1" dirty="0"/>
              <a:t>Operational Necessity:</a:t>
            </a:r>
            <a:r>
              <a:rPr lang="en-US" dirty="0"/>
              <a:t> For essential functions like processing payroll, managing student records, or fulfilling legal obligations.</a:t>
            </a:r>
          </a:p>
        </p:txBody>
      </p:sp>
      <p:sp>
        <p:nvSpPr>
          <p:cNvPr id="4" name="Content Placeholder 3">
            <a:extLst>
              <a:ext uri="{FF2B5EF4-FFF2-40B4-BE49-F238E27FC236}">
                <a16:creationId xmlns:a16="http://schemas.microsoft.com/office/drawing/2014/main" id="{AC9A24FD-F711-3769-1D79-8D9BE91B0585}"/>
              </a:ext>
            </a:extLst>
          </p:cNvPr>
          <p:cNvSpPr>
            <a:spLocks noGrp="1"/>
          </p:cNvSpPr>
          <p:nvPr>
            <p:ph sz="half" idx="2"/>
          </p:nvPr>
        </p:nvSpPr>
        <p:spPr/>
        <p:txBody>
          <a:bodyPr>
            <a:normAutofit fontScale="70000" lnSpcReduction="20000"/>
          </a:bodyPr>
          <a:lstStyle/>
          <a:p>
            <a:pPr marL="0" indent="0" algn="ctr">
              <a:buNone/>
            </a:pPr>
            <a:r>
              <a:rPr lang="en-US" b="1" dirty="0"/>
              <a:t>Data Protection Basics</a:t>
            </a:r>
            <a:endParaRPr lang="en-US" dirty="0"/>
          </a:p>
          <a:p>
            <a:pPr marL="0" indent="0">
              <a:buNone/>
            </a:pPr>
            <a:r>
              <a:rPr lang="en-US" dirty="0"/>
              <a:t>Effective data protection centers on three fundamental pillars known as the </a:t>
            </a:r>
            <a:r>
              <a:rPr lang="en-US" b="1" dirty="0"/>
              <a:t>CIA Triad</a:t>
            </a:r>
            <a:r>
              <a:rPr lang="en-US" dirty="0"/>
              <a:t>: </a:t>
            </a:r>
          </a:p>
          <a:p>
            <a:pPr lvl="0"/>
            <a:r>
              <a:rPr lang="en-US" b="1" dirty="0"/>
              <a:t>Confidentiality:</a:t>
            </a:r>
            <a:r>
              <a:rPr lang="en-US" dirty="0"/>
              <a:t> Ensuring data is accessible only to authorized users.</a:t>
            </a:r>
          </a:p>
          <a:p>
            <a:pPr lvl="0"/>
            <a:r>
              <a:rPr lang="en-US" b="1" dirty="0"/>
              <a:t>Integrity:</a:t>
            </a:r>
            <a:r>
              <a:rPr lang="en-US" dirty="0"/>
              <a:t> Maintaining the accuracy and trustworthiness of information by preventing unauthorized changes.</a:t>
            </a:r>
          </a:p>
          <a:p>
            <a:r>
              <a:rPr lang="en-US" b="1" dirty="0"/>
              <a:t>Availability:</a:t>
            </a:r>
            <a:r>
              <a:rPr lang="en-US" dirty="0"/>
              <a:t> Ensuring data remains accessible for business needs even after a system failure or attack. [1, 2, 11] </a:t>
            </a:r>
          </a:p>
        </p:txBody>
      </p:sp>
    </p:spTree>
    <p:extLst>
      <p:ext uri="{BB962C8B-B14F-4D97-AF65-F5344CB8AC3E}">
        <p14:creationId xmlns:p14="http://schemas.microsoft.com/office/powerpoint/2010/main" val="3743065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5BD61-E4EE-5305-0329-1FA33486FDA0}"/>
              </a:ext>
            </a:extLst>
          </p:cNvPr>
          <p:cNvSpPr>
            <a:spLocks noGrp="1"/>
          </p:cNvSpPr>
          <p:nvPr>
            <p:ph type="title"/>
          </p:nvPr>
        </p:nvSpPr>
        <p:spPr/>
        <p:txBody>
          <a:bodyPr/>
          <a:lstStyle/>
          <a:p>
            <a:pPr algn="ctr"/>
            <a:r>
              <a:rPr lang="en-US" b="1" dirty="0"/>
              <a:t>How to Protect Your Data</a:t>
            </a:r>
          </a:p>
        </p:txBody>
      </p:sp>
      <p:sp>
        <p:nvSpPr>
          <p:cNvPr id="3" name="Content Placeholder 2">
            <a:extLst>
              <a:ext uri="{FF2B5EF4-FFF2-40B4-BE49-F238E27FC236}">
                <a16:creationId xmlns:a16="http://schemas.microsoft.com/office/drawing/2014/main" id="{B7BF62FE-5864-5B2A-122C-5EBB5853E665}"/>
              </a:ext>
            </a:extLst>
          </p:cNvPr>
          <p:cNvSpPr>
            <a:spLocks noGrp="1"/>
          </p:cNvSpPr>
          <p:nvPr>
            <p:ph idx="1"/>
          </p:nvPr>
        </p:nvSpPr>
        <p:spPr/>
        <p:txBody>
          <a:bodyPr>
            <a:normAutofit fontScale="85000" lnSpcReduction="20000"/>
          </a:bodyPr>
          <a:lstStyle/>
          <a:p>
            <a:r>
              <a:rPr lang="en-US" b="1" dirty="0"/>
              <a:t>Use Privacy-Focused Tools:</a:t>
            </a:r>
            <a:r>
              <a:rPr lang="en-US" dirty="0"/>
              <a:t> Switch to browsers like Brave or Firefox and use search engines that don't track you.</a:t>
            </a:r>
          </a:p>
          <a:p>
            <a:pPr lvl="0"/>
            <a:r>
              <a:rPr lang="en-US" b="1" dirty="0"/>
              <a:t>Enable Universal Opt-Outs:</a:t>
            </a:r>
            <a:r>
              <a:rPr lang="en-US" dirty="0"/>
              <a:t> Use tools like Global Privacy Control (GPC) to automatically signal your privacy preferences to websites.</a:t>
            </a:r>
          </a:p>
          <a:p>
            <a:pPr lvl="0"/>
            <a:r>
              <a:rPr lang="en-US" b="1" dirty="0"/>
              <a:t>Audit App Permissions:</a:t>
            </a:r>
            <a:r>
              <a:rPr lang="en-US" dirty="0"/>
              <a:t> Regularly review settings on your mobile device to revoke "Always" location access or unnecessary microphone/camera permissions for utility apps.</a:t>
            </a:r>
          </a:p>
          <a:p>
            <a:pPr lvl="0"/>
            <a:r>
              <a:rPr lang="en-US" b="1" dirty="0"/>
              <a:t>Practice Identity Compartmentalization:</a:t>
            </a:r>
            <a:r>
              <a:rPr lang="en-US" dirty="0"/>
              <a:t> Use email aliasing and virtual phone numbers to prevent different accounts from being linked into a single trackable profile.</a:t>
            </a:r>
          </a:p>
          <a:p>
            <a:r>
              <a:rPr lang="en-US" b="1" dirty="0"/>
              <a:t>Secure Your Hardware:</a:t>
            </a:r>
            <a:r>
              <a:rPr lang="en-US" dirty="0"/>
              <a:t> Enable full-disk encryption on your computer and use a password manager with multi-factor authentication (MFA) to lock down access.</a:t>
            </a:r>
          </a:p>
        </p:txBody>
      </p:sp>
    </p:spTree>
    <p:extLst>
      <p:ext uri="{BB962C8B-B14F-4D97-AF65-F5344CB8AC3E}">
        <p14:creationId xmlns:p14="http://schemas.microsoft.com/office/powerpoint/2010/main" val="1805603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99A2359-BA0F-A279-D8F9-868D2B3F37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33CB1-8294-490E-DC0A-31AF18C59131}"/>
              </a:ext>
            </a:extLst>
          </p:cNvPr>
          <p:cNvSpPr>
            <a:spLocks noGrp="1"/>
          </p:cNvSpPr>
          <p:nvPr>
            <p:ph type="title"/>
          </p:nvPr>
        </p:nvSpPr>
        <p:spPr/>
        <p:txBody>
          <a:bodyPr>
            <a:normAutofit/>
          </a:bodyPr>
          <a:lstStyle/>
          <a:p>
            <a:pPr algn="ctr"/>
            <a:r>
              <a:rPr lang="en-US" sz="4000" b="1" dirty="0">
                <a:solidFill>
                  <a:schemeClr val="bg1"/>
                </a:solidFill>
              </a:rPr>
              <a:t>TL; DR Compliance Training Summary</a:t>
            </a:r>
          </a:p>
        </p:txBody>
      </p:sp>
      <p:sp>
        <p:nvSpPr>
          <p:cNvPr id="3" name="Content Placeholder 2">
            <a:extLst>
              <a:ext uri="{FF2B5EF4-FFF2-40B4-BE49-F238E27FC236}">
                <a16:creationId xmlns:a16="http://schemas.microsoft.com/office/drawing/2014/main" id="{DE435D44-576C-C01F-2E66-5CBE7A91B5BE}"/>
              </a:ext>
            </a:extLst>
          </p:cNvPr>
          <p:cNvSpPr>
            <a:spLocks noGrp="1"/>
          </p:cNvSpPr>
          <p:nvPr>
            <p:ph sz="half" idx="1"/>
          </p:nvPr>
        </p:nvSpPr>
        <p:spPr/>
        <p:txBody>
          <a:bodyPr>
            <a:normAutofit fontScale="47500" lnSpcReduction="20000"/>
          </a:bodyPr>
          <a:lstStyle/>
          <a:p>
            <a:pPr marL="0" indent="0">
              <a:lnSpc>
                <a:spcPct val="110000"/>
              </a:lnSpc>
              <a:spcBef>
                <a:spcPts val="0"/>
              </a:spcBef>
              <a:buNone/>
            </a:pPr>
            <a:r>
              <a:rPr lang="en-US" sz="3800" b="1" dirty="0">
                <a:solidFill>
                  <a:schemeClr val="bg1"/>
                </a:solidFill>
              </a:rPr>
              <a:t>Compliance</a:t>
            </a:r>
            <a:r>
              <a:rPr lang="en-US" sz="3800" dirty="0">
                <a:solidFill>
                  <a:schemeClr val="bg1"/>
                </a:solidFill>
              </a:rPr>
              <a:t> means following the rules.</a:t>
            </a:r>
          </a:p>
          <a:p>
            <a:pPr marL="0" indent="0">
              <a:lnSpc>
                <a:spcPct val="110000"/>
              </a:lnSpc>
              <a:spcBef>
                <a:spcPts val="0"/>
              </a:spcBef>
              <a:buNone/>
            </a:pPr>
            <a:endParaRPr lang="en-US" sz="3400" dirty="0">
              <a:solidFill>
                <a:schemeClr val="bg1"/>
              </a:solidFill>
            </a:endParaRPr>
          </a:p>
          <a:p>
            <a:pPr marL="0" indent="0">
              <a:lnSpc>
                <a:spcPct val="110000"/>
              </a:lnSpc>
              <a:spcBef>
                <a:spcPts val="0"/>
              </a:spcBef>
              <a:buNone/>
            </a:pPr>
            <a:r>
              <a:rPr lang="en-US" sz="3400" dirty="0">
                <a:solidFill>
                  <a:schemeClr val="bg1"/>
                </a:solidFill>
              </a:rPr>
              <a:t>Whether those are laws, industry standards, and internal company policies, compliance makes sure that you or your organization operate legally, safely, and ethically to avoid penalties and protect your reputation.</a:t>
            </a:r>
          </a:p>
          <a:p>
            <a:pPr marL="0" indent="0">
              <a:lnSpc>
                <a:spcPct val="110000"/>
              </a:lnSpc>
              <a:spcBef>
                <a:spcPts val="0"/>
              </a:spcBef>
              <a:buNone/>
            </a:pPr>
            <a:endParaRPr lang="en-US" sz="3400" b="1" dirty="0">
              <a:solidFill>
                <a:schemeClr val="bg1"/>
              </a:solidFill>
            </a:endParaRPr>
          </a:p>
          <a:p>
            <a:pPr marL="0" indent="0">
              <a:lnSpc>
                <a:spcPct val="110000"/>
              </a:lnSpc>
              <a:spcBef>
                <a:spcPts val="0"/>
              </a:spcBef>
              <a:buNone/>
            </a:pPr>
            <a:r>
              <a:rPr lang="en-US" sz="3400" b="1" dirty="0">
                <a:solidFill>
                  <a:schemeClr val="bg1"/>
                </a:solidFill>
              </a:rPr>
              <a:t>Phishing</a:t>
            </a:r>
            <a:r>
              <a:rPr lang="en-US" sz="3400" dirty="0">
                <a:solidFill>
                  <a:schemeClr val="bg1"/>
                </a:solidFill>
              </a:rPr>
              <a:t> is a type of cyberattack where scammers deceive people into revealing sensitive information like passwords, credit card numbers, or social security details by impersonating a trusted source.</a:t>
            </a:r>
          </a:p>
          <a:p>
            <a:pPr marL="0" indent="0">
              <a:lnSpc>
                <a:spcPct val="110000"/>
              </a:lnSpc>
              <a:spcBef>
                <a:spcPts val="0"/>
              </a:spcBef>
              <a:buNone/>
            </a:pPr>
            <a:endParaRPr lang="en-US" sz="3400" dirty="0">
              <a:solidFill>
                <a:schemeClr val="bg1"/>
              </a:solidFill>
            </a:endParaRPr>
          </a:p>
          <a:p>
            <a:pPr marL="0" indent="0">
              <a:lnSpc>
                <a:spcPct val="110000"/>
              </a:lnSpc>
              <a:spcBef>
                <a:spcPts val="0"/>
              </a:spcBef>
              <a:buNone/>
            </a:pPr>
            <a:r>
              <a:rPr lang="en-US" sz="3400" dirty="0">
                <a:solidFill>
                  <a:schemeClr val="bg1"/>
                </a:solidFill>
              </a:rPr>
              <a:t>Protect yourself by: </a:t>
            </a:r>
            <a:r>
              <a:rPr lang="en-US" sz="3400" b="1" dirty="0">
                <a:solidFill>
                  <a:schemeClr val="bg1"/>
                </a:solidFill>
              </a:rPr>
              <a:t>Using Multi-Factor Authentication (MFA), Verifying Independently, Thinking Before You Click, Using a Password Manager, Keeping Software Updated!</a:t>
            </a:r>
            <a:endParaRPr lang="en-US" dirty="0">
              <a:solidFill>
                <a:schemeClr val="bg1"/>
              </a:solidFill>
            </a:endParaRPr>
          </a:p>
          <a:p>
            <a:pPr marL="0" indent="0">
              <a:buNone/>
            </a:pPr>
            <a:endParaRPr lang="en-US" dirty="0"/>
          </a:p>
        </p:txBody>
      </p:sp>
      <p:sp>
        <p:nvSpPr>
          <p:cNvPr id="4" name="Content Placeholder 3">
            <a:extLst>
              <a:ext uri="{FF2B5EF4-FFF2-40B4-BE49-F238E27FC236}">
                <a16:creationId xmlns:a16="http://schemas.microsoft.com/office/drawing/2014/main" id="{F9E21EA2-6DA3-A80E-F684-0D504B9796FA}"/>
              </a:ext>
            </a:extLst>
          </p:cNvPr>
          <p:cNvSpPr>
            <a:spLocks noGrp="1"/>
          </p:cNvSpPr>
          <p:nvPr>
            <p:ph sz="half" idx="2"/>
          </p:nvPr>
        </p:nvSpPr>
        <p:spPr>
          <a:xfrm>
            <a:off x="6019799" y="1365625"/>
            <a:ext cx="5963653" cy="4811337"/>
          </a:xfrm>
        </p:spPr>
        <p:txBody>
          <a:bodyPr>
            <a:noAutofit/>
          </a:bodyPr>
          <a:lstStyle/>
          <a:p>
            <a:pPr marL="0" indent="0">
              <a:lnSpc>
                <a:spcPct val="120000"/>
              </a:lnSpc>
              <a:spcBef>
                <a:spcPts val="0"/>
              </a:spcBef>
              <a:buNone/>
            </a:pPr>
            <a:r>
              <a:rPr lang="en-US" sz="1600" b="1" dirty="0">
                <a:solidFill>
                  <a:schemeClr val="bg1"/>
                </a:solidFill>
              </a:rPr>
              <a:t>Password security </a:t>
            </a:r>
            <a:r>
              <a:rPr lang="en-US" sz="1600" dirty="0">
                <a:solidFill>
                  <a:schemeClr val="bg1"/>
                </a:solidFill>
              </a:rPr>
              <a:t>is the practice of creating and managing credentials to prevent unauthorized access to your digital accounts.</a:t>
            </a:r>
          </a:p>
          <a:p>
            <a:pPr marL="0" indent="0">
              <a:lnSpc>
                <a:spcPct val="120000"/>
              </a:lnSpc>
              <a:spcBef>
                <a:spcPts val="0"/>
              </a:spcBef>
              <a:buNone/>
            </a:pPr>
            <a:endParaRPr lang="en-US" sz="500" dirty="0">
              <a:solidFill>
                <a:schemeClr val="bg1"/>
              </a:solidFill>
            </a:endParaRPr>
          </a:p>
          <a:p>
            <a:pPr marL="0" indent="0">
              <a:lnSpc>
                <a:spcPct val="120000"/>
              </a:lnSpc>
              <a:spcBef>
                <a:spcPts val="0"/>
              </a:spcBef>
              <a:buNone/>
            </a:pPr>
            <a:r>
              <a:rPr lang="en-US" sz="1600" dirty="0">
                <a:solidFill>
                  <a:schemeClr val="bg1"/>
                </a:solidFill>
              </a:rPr>
              <a:t>Create a secure password by making it using a mix of uppercase and lowercase letters, numbers, and symbols, never reusing passwords across different sites, using a </a:t>
            </a:r>
            <a:r>
              <a:rPr lang="en-US" sz="1600" b="1" dirty="0">
                <a:solidFill>
                  <a:schemeClr val="bg1"/>
                </a:solidFill>
              </a:rPr>
              <a:t> </a:t>
            </a:r>
            <a:r>
              <a:rPr lang="en-US" sz="1600" dirty="0">
                <a:solidFill>
                  <a:schemeClr val="bg1"/>
                </a:solidFill>
              </a:rPr>
              <a:t>password manager</a:t>
            </a:r>
            <a:r>
              <a:rPr lang="en-US" sz="1600" b="1" dirty="0">
                <a:solidFill>
                  <a:schemeClr val="bg1"/>
                </a:solidFill>
              </a:rPr>
              <a:t> (</a:t>
            </a:r>
            <a:r>
              <a:rPr lang="en-US" sz="1600" dirty="0">
                <a:solidFill>
                  <a:schemeClr val="bg1"/>
                </a:solidFill>
              </a:rPr>
              <a:t>like Bitwarden or 1Password</a:t>
            </a:r>
            <a:r>
              <a:rPr lang="en-US" sz="1600" u="sng" dirty="0">
                <a:solidFill>
                  <a:schemeClr val="bg1"/>
                </a:solidFill>
              </a:rPr>
              <a:t>)</a:t>
            </a:r>
            <a:r>
              <a:rPr lang="en-US" sz="1600" dirty="0">
                <a:solidFill>
                  <a:schemeClr val="bg1"/>
                </a:solidFill>
              </a:rPr>
              <a:t>, and Multi-Factor Authentication (MFA).</a:t>
            </a:r>
          </a:p>
          <a:p>
            <a:pPr marL="0" indent="0">
              <a:lnSpc>
                <a:spcPct val="120000"/>
              </a:lnSpc>
              <a:spcBef>
                <a:spcPts val="0"/>
              </a:spcBef>
              <a:buNone/>
            </a:pPr>
            <a:endParaRPr lang="en-US" sz="500" b="1" dirty="0">
              <a:solidFill>
                <a:schemeClr val="bg1"/>
              </a:solidFill>
            </a:endParaRPr>
          </a:p>
          <a:p>
            <a:pPr marL="0" indent="0">
              <a:lnSpc>
                <a:spcPct val="120000"/>
              </a:lnSpc>
              <a:spcBef>
                <a:spcPts val="0"/>
              </a:spcBef>
              <a:buNone/>
            </a:pPr>
            <a:r>
              <a:rPr lang="en-US" sz="1600" b="1" dirty="0">
                <a:solidFill>
                  <a:schemeClr val="bg1"/>
                </a:solidFill>
              </a:rPr>
              <a:t>Data protection</a:t>
            </a:r>
            <a:r>
              <a:rPr lang="en-US" sz="1600" dirty="0">
                <a:solidFill>
                  <a:schemeClr val="bg1"/>
                </a:solidFill>
              </a:rPr>
              <a:t> safeguards your sensitive information from unauthorized access, loss, or corruption to ensure its privacy and availability. In 2026, data protection has evolved to address sophisticated AI-driven threats and a complex landscape of global regulations.</a:t>
            </a:r>
          </a:p>
          <a:p>
            <a:pPr marL="0" indent="0">
              <a:lnSpc>
                <a:spcPct val="120000"/>
              </a:lnSpc>
              <a:spcBef>
                <a:spcPts val="0"/>
              </a:spcBef>
              <a:buNone/>
            </a:pPr>
            <a:endParaRPr lang="en-US" sz="500" dirty="0">
              <a:solidFill>
                <a:schemeClr val="bg1"/>
              </a:solidFill>
            </a:endParaRPr>
          </a:p>
          <a:p>
            <a:pPr marL="0" indent="0">
              <a:lnSpc>
                <a:spcPct val="120000"/>
              </a:lnSpc>
              <a:spcBef>
                <a:spcPts val="0"/>
              </a:spcBef>
              <a:buNone/>
            </a:pPr>
            <a:r>
              <a:rPr lang="en-US" sz="1600" dirty="0">
                <a:solidFill>
                  <a:schemeClr val="bg1"/>
                </a:solidFill>
              </a:rPr>
              <a:t>Protect Your Data by: </a:t>
            </a:r>
            <a:r>
              <a:rPr lang="en-US" sz="1600" b="1" dirty="0">
                <a:solidFill>
                  <a:schemeClr val="bg1"/>
                </a:solidFill>
              </a:rPr>
              <a:t>Using Privacy-Focused Tools, Enabling Universal Opt-Outs, Auditing App Permissions, Practicing Identity Compartmentalization, Securing Your Hardware!</a:t>
            </a:r>
            <a:endParaRPr lang="en-US" sz="1600" dirty="0">
              <a:solidFill>
                <a:schemeClr val="bg1"/>
              </a:solidFill>
            </a:endParaRPr>
          </a:p>
        </p:txBody>
      </p:sp>
    </p:spTree>
    <p:extLst>
      <p:ext uri="{BB962C8B-B14F-4D97-AF65-F5344CB8AC3E}">
        <p14:creationId xmlns:p14="http://schemas.microsoft.com/office/powerpoint/2010/main" val="663956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DF4F7A5-A923-AB16-27FD-ABC7971FBF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020F28-3376-5F4D-A91E-87E7913B6CC4}"/>
              </a:ext>
            </a:extLst>
          </p:cNvPr>
          <p:cNvSpPr>
            <a:spLocks noGrp="1"/>
          </p:cNvSpPr>
          <p:nvPr>
            <p:ph type="ctrTitle"/>
          </p:nvPr>
        </p:nvSpPr>
        <p:spPr>
          <a:xfrm>
            <a:off x="3224463" y="2811379"/>
            <a:ext cx="4186989" cy="1235242"/>
          </a:xfrm>
        </p:spPr>
        <p:txBody>
          <a:bodyPr>
            <a:noAutofit/>
          </a:bodyPr>
          <a:lstStyle/>
          <a:p>
            <a:r>
              <a:rPr lang="en-US" sz="5400" b="1" dirty="0">
                <a:solidFill>
                  <a:schemeClr val="bg1"/>
                </a:solidFill>
                <a:latin typeface="Impact" panose="020B0806030902050204" pitchFamily="34" charset="0"/>
              </a:rPr>
              <a:t>STAY </a:t>
            </a:r>
            <a:br>
              <a:rPr lang="en-US" sz="5400" b="1" dirty="0">
                <a:solidFill>
                  <a:schemeClr val="bg1"/>
                </a:solidFill>
                <a:latin typeface="Impact" panose="020B0806030902050204" pitchFamily="34" charset="0"/>
              </a:rPr>
            </a:br>
            <a:r>
              <a:rPr lang="en-US" sz="5400" b="1" dirty="0">
                <a:solidFill>
                  <a:schemeClr val="bg1"/>
                </a:solidFill>
                <a:latin typeface="Impact" panose="020B0806030902050204" pitchFamily="34" charset="0"/>
              </a:rPr>
              <a:t>SECURE</a:t>
            </a:r>
          </a:p>
        </p:txBody>
      </p:sp>
      <p:sp>
        <p:nvSpPr>
          <p:cNvPr id="5" name="TextBox 4">
            <a:extLst>
              <a:ext uri="{FF2B5EF4-FFF2-40B4-BE49-F238E27FC236}">
                <a16:creationId xmlns:a16="http://schemas.microsoft.com/office/drawing/2014/main" id="{143E8D43-8ADB-1396-41B0-945F3CAB7A25}"/>
              </a:ext>
            </a:extLst>
          </p:cNvPr>
          <p:cNvSpPr txBox="1"/>
          <p:nvPr/>
        </p:nvSpPr>
        <p:spPr>
          <a:xfrm>
            <a:off x="4780548" y="4324979"/>
            <a:ext cx="2630904" cy="923330"/>
          </a:xfrm>
          <a:prstGeom prst="rect">
            <a:avLst/>
          </a:prstGeom>
          <a:noFill/>
        </p:spPr>
        <p:txBody>
          <a:bodyPr wrap="square" rtlCol="0">
            <a:spAutoFit/>
          </a:bodyPr>
          <a:lstStyle/>
          <a:p>
            <a:r>
              <a:rPr lang="en-US" sz="5400" dirty="0">
                <a:solidFill>
                  <a:schemeClr val="bg1"/>
                </a:solidFill>
                <a:latin typeface="Impact" panose="020B0806030902050204" pitchFamily="34" charset="0"/>
              </a:rPr>
              <a:t>AND</a:t>
            </a:r>
          </a:p>
        </p:txBody>
      </p:sp>
    </p:spTree>
    <p:extLst>
      <p:ext uri="{BB962C8B-B14F-4D97-AF65-F5344CB8AC3E}">
        <p14:creationId xmlns:p14="http://schemas.microsoft.com/office/powerpoint/2010/main" val="15544779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TotalTime>
  <Words>1187</Words>
  <Application>Microsoft Office PowerPoint</Application>
  <PresentationFormat>Widescreen</PresentationFormat>
  <Paragraphs>91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Impact</vt:lpstr>
      <vt:lpstr>Office Theme</vt:lpstr>
      <vt:lpstr>PowerPoint Presentation</vt:lpstr>
      <vt:lpstr>What is compliance?</vt:lpstr>
      <vt:lpstr>PowerPoint Presentation</vt:lpstr>
      <vt:lpstr>Phishing</vt:lpstr>
      <vt:lpstr>How to Protect Yourself</vt:lpstr>
      <vt:lpstr>PowerPoint Presentation</vt:lpstr>
      <vt:lpstr>PowerPoint Presentation</vt:lpstr>
      <vt:lpstr>How to Create a Secure Password</vt:lpstr>
      <vt:lpstr>PowerPoint Presentation</vt:lpstr>
      <vt:lpstr>Data protection is the process of safeguarding sensitive information from unauthorized access, loss, or corruption to ensure its privacy and availability. In 2026, data protection has evolved to address sophisticated AI-driven threats and a complex landscape of global regulations.</vt:lpstr>
      <vt:lpstr>How to Protect Your Data</vt:lpstr>
      <vt:lpstr>TL; DR Compliance Training Summary</vt:lpstr>
      <vt:lpstr>STAY  SECURE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Jeremy Fluker</dc:creator>
  <cp:lastModifiedBy>Jeremy Fluker</cp:lastModifiedBy>
  <cp:revision>3</cp:revision>
  <dcterms:created xsi:type="dcterms:W3CDTF">2026-06-02T22:11:54Z</dcterms:created>
  <dcterms:modified xsi:type="dcterms:W3CDTF">2026-06-04T17:54:38Z</dcterms:modified>
</cp:coreProperties>
</file>